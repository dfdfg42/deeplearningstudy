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4"/>
  </p:notesMasterIdLst>
  <p:sldIdLst>
    <p:sldId id="427" r:id="rId2"/>
    <p:sldId id="673" r:id="rId3"/>
    <p:sldId id="724" r:id="rId4"/>
    <p:sldId id="733" r:id="rId5"/>
    <p:sldId id="734" r:id="rId6"/>
    <p:sldId id="735" r:id="rId7"/>
    <p:sldId id="736" r:id="rId8"/>
    <p:sldId id="737" r:id="rId9"/>
    <p:sldId id="728" r:id="rId10"/>
    <p:sldId id="729" r:id="rId11"/>
    <p:sldId id="730" r:id="rId12"/>
    <p:sldId id="732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CA6FB30-3A08-4FC9-8614-B204193284F3}">
          <p14:sldIdLst>
            <p14:sldId id="427"/>
            <p14:sldId id="673"/>
            <p14:sldId id="724"/>
            <p14:sldId id="733"/>
            <p14:sldId id="734"/>
            <p14:sldId id="735"/>
            <p14:sldId id="736"/>
            <p14:sldId id="737"/>
            <p14:sldId id="728"/>
            <p14:sldId id="729"/>
            <p14:sldId id="730"/>
            <p14:sldId id="7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DA2D716-3B7E-6162-E4CC-82B445EBDFE8}" name="최 재영" initials="최재" userId="d992d4872b0f84d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FF5050"/>
    <a:srgbClr val="4494FF"/>
    <a:srgbClr val="FFACF8"/>
    <a:srgbClr val="7E7E85"/>
    <a:srgbClr val="871A2B"/>
    <a:srgbClr val="008000"/>
    <a:srgbClr val="F1F1F1"/>
    <a:srgbClr val="C72F53"/>
    <a:srgbClr val="130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1" autoAdjust="0"/>
    <p:restoredTop sz="97416" autoAdjust="0"/>
  </p:normalViewPr>
  <p:slideViewPr>
    <p:cSldViewPr snapToGrid="0">
      <p:cViewPr varScale="1">
        <p:scale>
          <a:sx n="161" d="100"/>
          <a:sy n="161" d="100"/>
        </p:scale>
        <p:origin x="1912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4B731-A149-48E9-9598-63F39D6B8585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25238C-A8FC-4660-8003-59FEE05CC3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67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ko-KR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12C1FE9-C985-48E7-9D27-2EA33FD38884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32618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450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505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96240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75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43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28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36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875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09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408046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979086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 AI School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400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23C48BE-5B83-4C1F-8FAA-AAAD084D4513}"/>
              </a:ext>
            </a:extLst>
          </p:cNvPr>
          <p:cNvSpPr/>
          <p:nvPr userDrawn="1"/>
        </p:nvSpPr>
        <p:spPr>
          <a:xfrm>
            <a:off x="0" y="6669360"/>
            <a:ext cx="9144000" cy="188640"/>
          </a:xfrm>
          <a:prstGeom prst="rect">
            <a:avLst/>
          </a:prstGeom>
          <a:solidFill>
            <a:srgbClr val="1C1F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100"/>
              <a:t>Copyright ⓒ2023. Prof. Kang-Min Kim, The Catholic University of Korea. All rights reserved.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12511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5833E8-54F0-4BA2-9C0B-5572657F7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3608" y="5367338"/>
            <a:ext cx="8008952" cy="804862"/>
          </a:xfrm>
        </p:spPr>
        <p:txBody>
          <a:bodyPr/>
          <a:lstStyle/>
          <a:p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  <a:p>
            <a:r>
              <a:rPr lang="en-US" altLang="ko-KR" sz="2400" b="1" dirty="0">
                <a:latin typeface="Calibri"/>
                <a:ea typeface="+mn-lt"/>
                <a:cs typeface="Calibri"/>
              </a:rPr>
              <a:t>Object</a:t>
            </a:r>
            <a:r>
              <a:rPr lang="ko-KR" altLang="en-US" sz="2400" b="1" dirty="0">
                <a:latin typeface="Calibri"/>
                <a:ea typeface="+mn-lt"/>
                <a:cs typeface="Calibri"/>
              </a:rPr>
              <a:t> </a:t>
            </a:r>
            <a:r>
              <a:rPr lang="en-US" altLang="ko-KR" sz="2400" b="1" dirty="0">
                <a:latin typeface="Calibri"/>
                <a:ea typeface="+mn-lt"/>
                <a:cs typeface="Calibri"/>
              </a:rPr>
              <a:t>Recognition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FFA9C6-FB54-407C-A282-92C582D2F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41" y="2422079"/>
            <a:ext cx="1858903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576BBA2-3E12-88F2-2136-E342F74E58B0}"/>
              </a:ext>
            </a:extLst>
          </p:cNvPr>
          <p:cNvSpPr txBox="1">
            <a:spLocks/>
          </p:cNvSpPr>
          <p:nvPr/>
        </p:nvSpPr>
        <p:spPr>
          <a:xfrm>
            <a:off x="2830045" y="2800885"/>
            <a:ext cx="5522668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딥러닝 </a:t>
            </a:r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(Deep Learning)</a:t>
            </a:r>
          </a:p>
        </p:txBody>
      </p:sp>
    </p:spTree>
    <p:extLst>
      <p:ext uri="{BB962C8B-B14F-4D97-AF65-F5344CB8AC3E}">
        <p14:creationId xmlns:p14="http://schemas.microsoft.com/office/powerpoint/2010/main" val="3583922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B84096A-C511-4FAC-ABE3-92606487E4E5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Programming assignments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76A8BA3-24BE-3587-EE92-78FABD7EEAE6}"/>
              </a:ext>
            </a:extLst>
          </p:cNvPr>
          <p:cNvSpPr/>
          <p:nvPr/>
        </p:nvSpPr>
        <p:spPr>
          <a:xfrm>
            <a:off x="35496" y="969616"/>
            <a:ext cx="907300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Deep Learning Basic</a:t>
            </a:r>
            <a:r>
              <a:rPr lang="en-US" altLang="ko-KR" b="1" dirty="0"/>
              <a:t>	 		</a:t>
            </a:r>
            <a:r>
              <a:rPr lang="en-US" altLang="ko-KR" sz="1800" b="1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MLP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Object Recognition			</a:t>
            </a:r>
            <a:r>
              <a:rPr lang="en-US" altLang="ko-KR" sz="1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ResNet</a:t>
            </a:r>
            <a:endParaRPr lang="en-US" altLang="ko-KR" sz="1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Face Recognition			</a:t>
            </a:r>
            <a:r>
              <a:rPr lang="en-US" altLang="ko-KR" b="1" dirty="0">
                <a:solidFill>
                  <a:srgbClr val="7E7E85"/>
                </a:solidFill>
              </a:rPr>
              <a:t>Free choice model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Object Detection			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YOLO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Image Generation			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GAN, CGAN, DCGAN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NLU	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				CNN for Sentence Classification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NLG					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LSTM, Transformer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SSL for Computer Vision		</a:t>
            </a:r>
            <a:r>
              <a:rPr lang="en-US" altLang="ko-KR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ViT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SSL for NLP				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BERT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LLM					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ChatGPT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72657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B84096A-C511-4FAC-ABE3-92606487E4E5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 2: </a:t>
            </a:r>
            <a:r>
              <a:rPr lang="en-US" altLang="ko-KR" sz="2400" b="1" dirty="0" err="1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ResNet</a:t>
            </a:r>
            <a:endParaRPr lang="en-US" altLang="ko-KR" sz="2400" b="1" dirty="0">
              <a:solidFill>
                <a:srgbClr val="1C1F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047C5BE6-1E0A-1422-BDB3-CFE8B3187652}"/>
              </a:ext>
            </a:extLst>
          </p:cNvPr>
          <p:cNvCxnSpPr/>
          <p:nvPr/>
        </p:nvCxnSpPr>
        <p:spPr>
          <a:xfrm>
            <a:off x="7904702" y="3598623"/>
            <a:ext cx="0" cy="889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7331435-FAF6-A0CB-5508-53741D6E59B0}"/>
              </a:ext>
            </a:extLst>
          </p:cNvPr>
          <p:cNvSpPr txBox="1"/>
          <p:nvPr/>
        </p:nvSpPr>
        <p:spPr>
          <a:xfrm>
            <a:off x="7263233" y="4757272"/>
            <a:ext cx="1219436" cy="77079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400" dirty="0"/>
              <a:t>"Truck"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9BDF98-8AC7-9292-8764-0791A05DF063}"/>
              </a:ext>
            </a:extLst>
          </p:cNvPr>
          <p:cNvSpPr txBox="1"/>
          <p:nvPr/>
        </p:nvSpPr>
        <p:spPr>
          <a:xfrm>
            <a:off x="7920570" y="3744719"/>
            <a:ext cx="1064221" cy="47860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altLang="ko-KR" sz="2400" dirty="0"/>
              <a:t>model</a:t>
            </a:r>
          </a:p>
        </p:txBody>
      </p:sp>
      <p:pic>
        <p:nvPicPr>
          <p:cNvPr id="6" name="Picture 2" descr="How to Develop a CNN From Scratch for CIFAR-10 Photo Classification">
            <a:extLst>
              <a:ext uri="{FF2B5EF4-FFF2-40B4-BE49-F238E27FC236}">
                <a16:creationId xmlns:a16="http://schemas.microsoft.com/office/drawing/2014/main" id="{14BB91AB-826A-E797-10D0-DD0CD1C8C1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81" t="11658" r="40032" b="64857"/>
          <a:stretch/>
        </p:blipFill>
        <p:spPr bwMode="auto">
          <a:xfrm flipH="1">
            <a:off x="6804244" y="1213247"/>
            <a:ext cx="2169152" cy="2184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CCBE64-AF68-F9FC-A68C-1171B8644233}"/>
              </a:ext>
            </a:extLst>
          </p:cNvPr>
          <p:cNvSpPr txBox="1"/>
          <p:nvPr/>
        </p:nvSpPr>
        <p:spPr>
          <a:xfrm>
            <a:off x="139055" y="1238562"/>
            <a:ext cx="7961337" cy="435713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[Objective]</a:t>
            </a:r>
          </a:p>
          <a:p>
            <a:pPr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Your model should classify the images into 10 classes.</a:t>
            </a:r>
          </a:p>
          <a:p>
            <a:pPr>
              <a:spcBef>
                <a:spcPts val="500"/>
              </a:spcBef>
            </a:pPr>
            <a:endParaRPr lang="en-US" altLang="ko-KR" sz="1200" dirty="0"/>
          </a:p>
          <a:p>
            <a:pPr>
              <a:spcBef>
                <a:spcPts val="500"/>
              </a:spcBef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[Requirements]</a:t>
            </a:r>
          </a:p>
          <a:p>
            <a:pPr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1. Implement </a:t>
            </a: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ResNet32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 model using the CIFAR-10 dataset</a:t>
            </a:r>
            <a:b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    by changing various hyper-parameters.</a:t>
            </a:r>
          </a:p>
          <a:p>
            <a:pPr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    (Basic code is provided)</a:t>
            </a:r>
          </a:p>
          <a:p>
            <a:pPr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2. You should experiment with the settings stated in the evaluation report</a:t>
            </a:r>
            <a:b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     and report the result of each setting. </a:t>
            </a:r>
          </a:p>
          <a:p>
            <a:pPr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3. You should attach the plot of the validation dataset accuracy plot. </a:t>
            </a:r>
          </a:p>
          <a:p>
            <a:pPr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4. You should report the experimental results.</a:t>
            </a:r>
          </a:p>
          <a:p>
            <a:pPr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    (all kinds of additional experiments are recommended)</a:t>
            </a:r>
          </a:p>
        </p:txBody>
      </p:sp>
    </p:spTree>
    <p:extLst>
      <p:ext uri="{BB962C8B-B14F-4D97-AF65-F5344CB8AC3E}">
        <p14:creationId xmlns:p14="http://schemas.microsoft.com/office/powerpoint/2010/main" val="3990381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B84096A-C511-4FAC-ABE3-92606487E4E5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 2: </a:t>
            </a:r>
            <a:r>
              <a:rPr lang="en-US" altLang="ko-KR" sz="2400" b="1" dirty="0" err="1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ResNet</a:t>
            </a:r>
            <a:endParaRPr lang="en-US" altLang="ko-KR" sz="2400" b="1" dirty="0">
              <a:solidFill>
                <a:srgbClr val="1C1F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그림 170">
            <a:extLst>
              <a:ext uri="{FF2B5EF4-FFF2-40B4-BE49-F238E27FC236}">
                <a16:creationId xmlns:a16="http://schemas.microsoft.com/office/drawing/2014/main" id="{DD6DA8A5-369E-A797-A17A-EADEB92262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620" y="722456"/>
            <a:ext cx="6840760" cy="584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127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55D6016E-441B-8761-764F-255996680160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 2: </a:t>
            </a:r>
            <a:r>
              <a:rPr lang="en-US" altLang="ko-KR" sz="2400" b="1" dirty="0" err="1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ResNet</a:t>
            </a:r>
            <a:endParaRPr lang="en-US" altLang="ko-KR" sz="2400" b="1" dirty="0">
              <a:solidFill>
                <a:srgbClr val="1C1F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F0EB83-A553-DEDE-630C-12A5E543F91D}"/>
              </a:ext>
            </a:extLst>
          </p:cNvPr>
          <p:cNvSpPr/>
          <p:nvPr/>
        </p:nvSpPr>
        <p:spPr>
          <a:xfrm>
            <a:off x="188640" y="692696"/>
            <a:ext cx="8766720" cy="249299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IdentityPadding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nn.Module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__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__(self,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in_channels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out_channels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stride):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super().__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__()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self.pooling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= nn.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MaxPool2d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kernel_size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stride=stride)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self.add_channels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out_channels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-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in_channels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forward(self, x):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        # before padding</a:t>
            </a:r>
            <a:r>
              <a:rPr lang="ko-KR" altLang="en-US" sz="1200" dirty="0">
                <a:solidFill>
                  <a:srgbClr val="6AA94F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x: 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torch.Size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([128, 32, 16, 16])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x =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F.</a:t>
            </a:r>
            <a:r>
              <a:rPr lang="en-US" altLang="ko-KR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pad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(x, [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self.add_channels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        # after padding</a:t>
            </a:r>
            <a:r>
              <a:rPr lang="ko-KR" altLang="en-US" sz="1200" dirty="0">
                <a:solidFill>
                  <a:srgbClr val="6AA94F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x: 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torch.Size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([128, 64, 16, 16])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x =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</a:t>
            </a:r>
            <a:r>
              <a:rPr lang="en-US" altLang="ko-KR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pooling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(x)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        # after pooling</a:t>
            </a:r>
            <a:r>
              <a:rPr lang="ko-KR" altLang="en-US" sz="1200" dirty="0">
                <a:solidFill>
                  <a:srgbClr val="6AA94F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x: 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torch.Size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([128, 64, 8, 8])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x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B712C6-CBF0-2730-0F08-466CC99228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25" y="3552507"/>
            <a:ext cx="7432750" cy="298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06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55D6016E-441B-8761-764F-255996680160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 2: </a:t>
            </a:r>
            <a:r>
              <a:rPr lang="en-US" altLang="ko-KR" sz="2400" b="1" dirty="0" err="1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ResNet</a:t>
            </a:r>
            <a:endParaRPr lang="en-US" altLang="ko-KR" sz="2400" b="1" dirty="0">
              <a:solidFill>
                <a:srgbClr val="1C1F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F0EB83-A553-DEDE-630C-12A5E543F91D}"/>
              </a:ext>
            </a:extLst>
          </p:cNvPr>
          <p:cNvSpPr/>
          <p:nvPr/>
        </p:nvSpPr>
        <p:spPr>
          <a:xfrm>
            <a:off x="188640" y="692696"/>
            <a:ext cx="8766720" cy="32316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ResidualBlock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nn.Module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__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__(self,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in_channels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out_channels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stride=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down_sample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=False):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super().__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__()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self.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conv1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= nn.Conv2d(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in_channels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out_channels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kernel_size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stride=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							padding=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bias=False)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self.bn1 = nn.BatchNorm2d(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out_channels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self.relu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nn.ReLU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inplace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=True)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self.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conv2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= nn.Conv2d(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out_channels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out_channels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kernel_size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stride=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							padding=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bias=False)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self.bn2 = nn.BatchNorm2d(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out_channels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self.stride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= stride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if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down_sample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</a:t>
            </a:r>
            <a:r>
              <a:rPr lang="en-US" altLang="ko-KR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down_sample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IdentityPadding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in_channels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out_channels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stride)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else: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self.down_sample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= None</a:t>
            </a:r>
          </a:p>
        </p:txBody>
      </p:sp>
      <p:pic>
        <p:nvPicPr>
          <p:cNvPr id="5" name="그림 4" descr="로고이(가) 표시된 사진&#10;&#10;자동 생성된 설명">
            <a:extLst>
              <a:ext uri="{FF2B5EF4-FFF2-40B4-BE49-F238E27FC236}">
                <a16:creationId xmlns:a16="http://schemas.microsoft.com/office/drawing/2014/main" id="{18CA05E5-D229-663A-74AF-077039A7E1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07" y="3547659"/>
            <a:ext cx="7446986" cy="299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892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55D6016E-441B-8761-764F-255996680160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 2: </a:t>
            </a:r>
            <a:r>
              <a:rPr lang="en-US" altLang="ko-KR" sz="2400" b="1" dirty="0" err="1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ResNet</a:t>
            </a:r>
            <a:endParaRPr lang="en-US" altLang="ko-KR" sz="2400" b="1" dirty="0">
              <a:solidFill>
                <a:srgbClr val="1C1F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F0EB83-A553-DEDE-630C-12A5E543F91D}"/>
              </a:ext>
            </a:extLst>
          </p:cNvPr>
          <p:cNvSpPr/>
          <p:nvPr/>
        </p:nvSpPr>
        <p:spPr>
          <a:xfrm>
            <a:off x="188640" y="692696"/>
            <a:ext cx="8766720" cy="563231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ResidualBlock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nn.Module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__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__(self,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in_channels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out_channels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stride=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down_sample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=False):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	…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forward(self, x):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shortcut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= x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x = self.conv1(x)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x = self.bn1(x)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x =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self.relu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(x)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x = self.conv2(x)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x = self.bn2(x)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if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self.down_sample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is not None: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    shortcut =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self.down_sample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(shortcut)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x += shortcut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x =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self.relu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(x)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return x</a:t>
            </a:r>
          </a:p>
        </p:txBody>
      </p:sp>
      <p:pic>
        <p:nvPicPr>
          <p:cNvPr id="2" name="그림 1" descr="로고이(가) 표시된 사진&#10;&#10;자동 생성된 설명">
            <a:extLst>
              <a:ext uri="{FF2B5EF4-FFF2-40B4-BE49-F238E27FC236}">
                <a16:creationId xmlns:a16="http://schemas.microsoft.com/office/drawing/2014/main" id="{A14827E8-B92E-8116-9B42-B35AE48E4A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07" y="3547659"/>
            <a:ext cx="7446986" cy="299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650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테이블이(가) 표시된 사진&#10;&#10;자동 생성된 설명">
            <a:extLst>
              <a:ext uri="{FF2B5EF4-FFF2-40B4-BE49-F238E27FC236}">
                <a16:creationId xmlns:a16="http://schemas.microsoft.com/office/drawing/2014/main" id="{8BAB82AA-E34F-8A49-D042-9072F34E6D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79"/>
          <a:stretch/>
        </p:blipFill>
        <p:spPr>
          <a:xfrm>
            <a:off x="5335854" y="746059"/>
            <a:ext cx="3603234" cy="5425493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55D6016E-441B-8761-764F-255996680160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 2: </a:t>
            </a:r>
            <a:r>
              <a:rPr lang="en-US" altLang="ko-KR" sz="2400" b="1" dirty="0" err="1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ResNet</a:t>
            </a:r>
            <a:endParaRPr lang="en-US" altLang="ko-KR" sz="2400" b="1" dirty="0">
              <a:solidFill>
                <a:srgbClr val="1C1F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92AC62-6C15-AA3F-6F54-FA80F39C593B}"/>
              </a:ext>
            </a:extLst>
          </p:cNvPr>
          <p:cNvSpPr/>
          <p:nvPr/>
        </p:nvSpPr>
        <p:spPr>
          <a:xfrm>
            <a:off x="188640" y="692696"/>
            <a:ext cx="8766720" cy="43396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ResNet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nn.Module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):</a:t>
            </a:r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__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__(self,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num_layers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block,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num_classes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10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super().__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__()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        # input 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img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 : [3, 32, 32]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self.num_layers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num_layers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self.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conv1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= nn.Conv2d(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in_channels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out_channels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            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kernel_size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padding=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bias=False)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self.bn1 = nn.BatchNorm2d(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16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self.relu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nn.ReLU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inplace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=True)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        # feature map size = [16,32,32]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self.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layers_2n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self.get_layers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(block, 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16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16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				stride=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        # feature map size = [32,16,16]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self.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layers_4n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self.get_layers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(block, 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16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32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				stride=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        # feature map size = [64,8,8]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self.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layers_6n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self.get_layers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(block, 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32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64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				stride=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        # output layers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self.pool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= nn.</a:t>
            </a:r>
            <a:r>
              <a:rPr lang="en-US" altLang="ko-KR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AvgPool2d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8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stride=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self.fc_out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nn.</a:t>
            </a:r>
            <a:r>
              <a:rPr lang="en-US" altLang="ko-KR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Linear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64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num_classes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20C8B3-CB0D-0FC1-AA22-516C98E59A64}"/>
              </a:ext>
            </a:extLst>
          </p:cNvPr>
          <p:cNvSpPr txBox="1"/>
          <p:nvPr/>
        </p:nvSpPr>
        <p:spPr>
          <a:xfrm>
            <a:off x="4211960" y="5517232"/>
            <a:ext cx="165618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ko-KR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num_layers</a:t>
            </a:r>
            <a:r>
              <a:rPr lang="en-US" altLang="ko-KR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= 5</a:t>
            </a:r>
          </a:p>
        </p:txBody>
      </p:sp>
    </p:spTree>
    <p:extLst>
      <p:ext uri="{BB962C8B-B14F-4D97-AF65-F5344CB8AC3E}">
        <p14:creationId xmlns:p14="http://schemas.microsoft.com/office/powerpoint/2010/main" val="3544345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F3622F-FA0B-4696-0D80-69F61AE2E7ED}"/>
              </a:ext>
            </a:extLst>
          </p:cNvPr>
          <p:cNvSpPr txBox="1"/>
          <p:nvPr/>
        </p:nvSpPr>
        <p:spPr>
          <a:xfrm>
            <a:off x="107504" y="894350"/>
            <a:ext cx="3066218" cy="441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ko-KR" sz="2000" b="1" dirty="0"/>
              <a:t>[Evaluation report]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B21AA4D-2C24-113F-0852-4B4ECEEEE9C7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 2: </a:t>
            </a:r>
            <a:r>
              <a:rPr lang="en-US" altLang="ko-KR" sz="2400" b="1" dirty="0" err="1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ResNet</a:t>
            </a:r>
            <a:endParaRPr lang="en-US" altLang="ko-KR" sz="2400" b="1" dirty="0">
              <a:solidFill>
                <a:srgbClr val="1C1F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647594A-65C4-A146-1E69-808000509919}"/>
              </a:ext>
            </a:extLst>
          </p:cNvPr>
          <p:cNvGrpSpPr/>
          <p:nvPr/>
        </p:nvGrpSpPr>
        <p:grpSpPr>
          <a:xfrm>
            <a:off x="0" y="1976140"/>
            <a:ext cx="9144000" cy="2826327"/>
            <a:chOff x="0" y="1976140"/>
            <a:chExt cx="9144000" cy="282632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F15EAE1-484F-5858-5D54-7ED6BFD8D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976140"/>
              <a:ext cx="9144000" cy="2826327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E0AE71A-B04D-26A3-E270-656D9E0626B2}"/>
                </a:ext>
              </a:extLst>
            </p:cNvPr>
            <p:cNvSpPr/>
            <p:nvPr/>
          </p:nvSpPr>
          <p:spPr>
            <a:xfrm>
              <a:off x="7518404" y="2161213"/>
              <a:ext cx="1603631" cy="5617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07E33A2-0D2C-33C4-F531-25CCA8FAFB0B}"/>
                </a:ext>
              </a:extLst>
            </p:cNvPr>
            <p:cNvSpPr/>
            <p:nvPr/>
          </p:nvSpPr>
          <p:spPr>
            <a:xfrm>
              <a:off x="26096" y="2825625"/>
              <a:ext cx="9096490" cy="13501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DE868C1-BC6A-2D37-279A-EF27E1203DE6}"/>
                </a:ext>
              </a:extLst>
            </p:cNvPr>
            <p:cNvSpPr/>
            <p:nvPr/>
          </p:nvSpPr>
          <p:spPr>
            <a:xfrm>
              <a:off x="26096" y="4279021"/>
              <a:ext cx="9096490" cy="4950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082DCE46-FA9A-5433-706D-D14F30ADCE32}"/>
                </a:ext>
              </a:extLst>
            </p:cNvPr>
            <p:cNvGrpSpPr/>
            <p:nvPr/>
          </p:nvGrpSpPr>
          <p:grpSpPr>
            <a:xfrm>
              <a:off x="5770736" y="3100799"/>
              <a:ext cx="3137803" cy="1154197"/>
              <a:chOff x="5721265" y="3224984"/>
              <a:chExt cx="3137803" cy="1154197"/>
            </a:xfrm>
          </p:grpSpPr>
          <p:pic>
            <p:nvPicPr>
              <p:cNvPr id="18" name="그림 17" descr="포유류, 개, 보는, 서있는이(가) 표시된 사진&#10;&#10;자동 생성된 설명">
                <a:extLst>
                  <a:ext uri="{FF2B5EF4-FFF2-40B4-BE49-F238E27FC236}">
                    <a16:creationId xmlns:a16="http://schemas.microsoft.com/office/drawing/2014/main" id="{DFD4F7ED-5C46-193E-9DF1-A33A68EA17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21265" y="3224984"/>
                <a:ext cx="1328813" cy="887260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C0A29D0-3C75-A9A7-64DE-8AF2392DDC3E}"/>
                  </a:ext>
                </a:extLst>
              </p:cNvPr>
              <p:cNvSpPr txBox="1"/>
              <p:nvPr/>
            </p:nvSpPr>
            <p:spPr>
              <a:xfrm>
                <a:off x="5931463" y="4018247"/>
                <a:ext cx="908417" cy="360934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algn="ctr" defTabSz="342900" latinLnBrk="0"/>
                <a:r>
                  <a:rPr lang="en-US" altLang="ko-KR" sz="1100" b="1" dirty="0">
                    <a:latin typeface="Calibri" panose="020F0502020204030204"/>
                    <a:ea typeface="맑은 고딕" panose="020B0503020000020004" pitchFamily="50" charset="-127"/>
                  </a:rPr>
                  <a:t>dog</a:t>
                </a:r>
              </a:p>
            </p:txBody>
          </p:sp>
          <p:pic>
            <p:nvPicPr>
              <p:cNvPr id="20" name="그림 19" descr="자동차, 도로, 실외, 잔디이(가) 표시된 사진&#10;&#10;자동 생성된 설명">
                <a:extLst>
                  <a:ext uri="{FF2B5EF4-FFF2-40B4-BE49-F238E27FC236}">
                    <a16:creationId xmlns:a16="http://schemas.microsoft.com/office/drawing/2014/main" id="{D3567F24-523A-C34B-D3CF-F21EFA172DE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328"/>
              <a:stretch/>
            </p:blipFill>
            <p:spPr>
              <a:xfrm>
                <a:off x="7468933" y="3229360"/>
                <a:ext cx="1390135" cy="893218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BA1A62C-DE37-6B8B-0E85-5882887F8F1C}"/>
                  </a:ext>
                </a:extLst>
              </p:cNvPr>
              <p:cNvSpPr txBox="1"/>
              <p:nvPr/>
            </p:nvSpPr>
            <p:spPr>
              <a:xfrm>
                <a:off x="7709792" y="3999359"/>
                <a:ext cx="908417" cy="360934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algn="ctr" defTabSz="342900" latinLnBrk="0"/>
                <a:r>
                  <a:rPr lang="en-US" altLang="ko-KR" sz="1100" b="1" dirty="0">
                    <a:latin typeface="Calibri" panose="020F0502020204030204"/>
                    <a:ea typeface="맑은 고딕" panose="020B0503020000020004" pitchFamily="50" charset="-127"/>
                  </a:rPr>
                  <a:t>car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939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FA659BE0-2983-01F7-5F2F-F56BD663A90E}"/>
              </a:ext>
            </a:extLst>
          </p:cNvPr>
          <p:cNvSpPr txBox="1">
            <a:spLocks/>
          </p:cNvSpPr>
          <p:nvPr/>
        </p:nvSpPr>
        <p:spPr>
          <a:xfrm>
            <a:off x="179512" y="1556792"/>
            <a:ext cx="10515600" cy="43513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b="1" dirty="0"/>
              <a:t>Evaluation Criteria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28C8FD1-F166-F7C9-1BFB-9D248B651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355242"/>
              </p:ext>
            </p:extLst>
          </p:nvPr>
        </p:nvGraphicFramePr>
        <p:xfrm>
          <a:off x="127956" y="2348880"/>
          <a:ext cx="8888088" cy="2729172"/>
        </p:xfrm>
        <a:graphic>
          <a:graphicData uri="http://schemas.openxmlformats.org/drawingml/2006/table">
            <a:tbl>
              <a:tblPr/>
              <a:tblGrid>
                <a:gridCol w="2316117">
                  <a:extLst>
                    <a:ext uri="{9D8B030D-6E8A-4147-A177-3AD203B41FA5}">
                      <a16:colId xmlns:a16="http://schemas.microsoft.com/office/drawing/2014/main" val="4207470608"/>
                    </a:ext>
                  </a:extLst>
                </a:gridCol>
                <a:gridCol w="6571971">
                  <a:extLst>
                    <a:ext uri="{9D8B030D-6E8A-4147-A177-3AD203B41FA5}">
                      <a16:colId xmlns:a16="http://schemas.microsoft.com/office/drawing/2014/main" val="2788689799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Simplicity</a:t>
                      </a: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How concisely did you write the code? </a:t>
                      </a:r>
                    </a:p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배점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3026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Performance</a:t>
                      </a: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How well did the results of the code perform? </a:t>
                      </a:r>
                    </a:p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배점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marR="0" indent="-28575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acc 90%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 달성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marR="0" indent="-28575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 사진 추론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185813"/>
                  </a:ext>
                </a:extLst>
              </a:tr>
              <a:tr h="299428"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Brevity and Clarity</a:t>
                      </a: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How concisely and clearly did you explain the results? </a:t>
                      </a:r>
                    </a:p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배점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728080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4D5A4F56-CFF6-E1C5-B517-C55D800A1569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 2: </a:t>
            </a:r>
            <a:r>
              <a:rPr lang="en-US" altLang="ko-KR" sz="2400" b="1" dirty="0" err="1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ResNet</a:t>
            </a:r>
            <a:endParaRPr lang="en-US" altLang="ko-KR" sz="2400" b="1" dirty="0">
              <a:solidFill>
                <a:srgbClr val="1C1F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545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ABC077-2CE7-5C4E-620A-1B58E906093E}"/>
              </a:ext>
            </a:extLst>
          </p:cNvPr>
          <p:cNvSpPr txBox="1">
            <a:spLocks/>
          </p:cNvSpPr>
          <p:nvPr/>
        </p:nvSpPr>
        <p:spPr>
          <a:xfrm>
            <a:off x="180000" y="1340768"/>
            <a:ext cx="8964488" cy="50912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latin typeface="+mj-ea"/>
                <a:ea typeface="+mj-ea"/>
              </a:rPr>
              <a:t>Due</a:t>
            </a:r>
            <a:r>
              <a:rPr lang="ko-KR" altLang="en-US" sz="2400" dirty="0">
                <a:latin typeface="+mj-ea"/>
                <a:ea typeface="+mj-ea"/>
              </a:rPr>
              <a:t> </a:t>
            </a:r>
            <a:r>
              <a:rPr lang="en-US" altLang="ko-KR" sz="2400" dirty="0">
                <a:latin typeface="+mj-ea"/>
                <a:ea typeface="+mj-ea"/>
              </a:rPr>
              <a:t>to : </a:t>
            </a:r>
            <a:r>
              <a:rPr lang="en-US" altLang="ko-KR" sz="2400" b="1" dirty="0">
                <a:latin typeface="+mj-ea"/>
                <a:ea typeface="+mj-ea"/>
              </a:rPr>
              <a:t>~ 4/7 (Mon) 23:59:59</a:t>
            </a:r>
          </a:p>
          <a:p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latin typeface="+mj-ea"/>
                <a:ea typeface="+mj-ea"/>
              </a:rPr>
              <a:t>Submission</a:t>
            </a:r>
            <a:r>
              <a:rPr lang="ko-KR" altLang="en-US" sz="2400" dirty="0">
                <a:latin typeface="+mj-ea"/>
                <a:ea typeface="+mj-ea"/>
              </a:rPr>
              <a:t> </a:t>
            </a:r>
            <a:r>
              <a:rPr lang="en-US" altLang="ko-KR" sz="2400" dirty="0">
                <a:latin typeface="+mj-ea"/>
                <a:ea typeface="+mj-ea"/>
              </a:rPr>
              <a:t>: Online submission on </a:t>
            </a:r>
            <a:r>
              <a:rPr lang="en-US" altLang="ko-KR" sz="2400" dirty="0" err="1">
                <a:latin typeface="+mj-ea"/>
                <a:ea typeface="+mj-ea"/>
              </a:rPr>
              <a:t>cybercampus</a:t>
            </a:r>
            <a:endParaRPr lang="en-US" altLang="ko-KR" sz="2400" dirty="0">
              <a:latin typeface="+mj-ea"/>
              <a:ea typeface="+mj-ea"/>
            </a:endParaRPr>
          </a:p>
          <a:p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latin typeface="+mj-ea"/>
                <a:ea typeface="+mj-ea"/>
              </a:rPr>
              <a:t>Your submission should include</a:t>
            </a:r>
          </a:p>
          <a:p>
            <a:pPr marL="914400" lvl="1" indent="-457200">
              <a:buAutoNum type="arabicParenR"/>
            </a:pPr>
            <a:r>
              <a:rPr lang="en-US" altLang="ko-KR" sz="2400" dirty="0"/>
              <a:t>The whole code of your implementation</a:t>
            </a:r>
            <a:endParaRPr lang="en-US" altLang="ko-KR" sz="2800" dirty="0">
              <a:latin typeface="+mj-ea"/>
              <a:ea typeface="+mj-ea"/>
            </a:endParaRPr>
          </a:p>
          <a:p>
            <a:pPr marL="914400" lvl="1" indent="-457200">
              <a:buAutoNum type="arabicParenR"/>
            </a:pPr>
            <a:r>
              <a:rPr lang="en-US" altLang="ko-KR" sz="2400" dirty="0"/>
              <a:t>The evaluation report</a:t>
            </a:r>
          </a:p>
          <a:p>
            <a:pPr marL="0" indent="0">
              <a:buNone/>
            </a:pPr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solidFill>
                  <a:srgbClr val="FF0000"/>
                </a:solidFill>
                <a:latin typeface="+mj-ea"/>
                <a:ea typeface="+mj-ea"/>
              </a:rPr>
              <a:t>You must implement the components yourself!</a:t>
            </a:r>
          </a:p>
          <a:p>
            <a:r>
              <a:rPr lang="en-US" altLang="ko-KR" sz="2400" dirty="0">
                <a:latin typeface="+mj-ea"/>
                <a:ea typeface="+mj-ea"/>
              </a:rPr>
              <a:t>File name : StudentID_Name_HW2.zip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B929603-74F4-7738-E084-390E3D0B68A4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 2: </a:t>
            </a:r>
            <a:r>
              <a:rPr lang="en-US" altLang="ko-KR" sz="2400" b="1" dirty="0" err="1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ResNet</a:t>
            </a:r>
            <a:endParaRPr lang="en-US" altLang="ko-KR" sz="2400" b="1" dirty="0">
              <a:solidFill>
                <a:srgbClr val="1C1F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26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19D4332-937C-14D7-2146-7B0D995C6B34}"/>
              </a:ext>
            </a:extLst>
          </p:cNvPr>
          <p:cNvSpPr txBox="1">
            <a:spLocks/>
          </p:cNvSpPr>
          <p:nvPr/>
        </p:nvSpPr>
        <p:spPr>
          <a:xfrm>
            <a:off x="2555776" y="2708920"/>
            <a:ext cx="5256584" cy="960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16600" b="1" dirty="0"/>
              <a:t>Q</a:t>
            </a:r>
            <a:r>
              <a:rPr lang="en-US" altLang="ko-KR" sz="9600" b="1" dirty="0"/>
              <a:t>&amp;</a:t>
            </a:r>
            <a:r>
              <a:rPr lang="en-US" altLang="ko-KR" sz="16600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00875422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algn="l">
          <a:defRPr sz="2000" b="1" dirty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테마1" id="{D9BDF30F-3B36-4CEA-A9C9-0D5C5C06D51F}" vid="{20C366B2-3576-4F75-B35B-B2813EC3E1E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13664</TotalTime>
  <Words>1092</Words>
  <Application>Microsoft Office PowerPoint</Application>
  <PresentationFormat>화면 슬라이드 쇼(4:3)</PresentationFormat>
  <Paragraphs>124</Paragraphs>
  <Slides>12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Calibri</vt:lpstr>
      <vt:lpstr>Consolas</vt:lpstr>
      <vt:lpstr>테마1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821022795787</dc:creator>
  <cp:lastModifiedBy>KimKang-Min</cp:lastModifiedBy>
  <cp:revision>158</cp:revision>
  <dcterms:created xsi:type="dcterms:W3CDTF">2020-09-08T07:38:37Z</dcterms:created>
  <dcterms:modified xsi:type="dcterms:W3CDTF">2025-03-31T06:02:34Z</dcterms:modified>
</cp:coreProperties>
</file>