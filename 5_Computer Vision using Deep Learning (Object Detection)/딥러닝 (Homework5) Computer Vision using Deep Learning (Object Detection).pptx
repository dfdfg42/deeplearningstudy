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10"/>
  </p:notesMasterIdLst>
  <p:sldIdLst>
    <p:sldId id="427" r:id="rId2"/>
    <p:sldId id="673" r:id="rId3"/>
    <p:sldId id="971" r:id="rId4"/>
    <p:sldId id="951" r:id="rId5"/>
    <p:sldId id="953" r:id="rId6"/>
    <p:sldId id="954" r:id="rId7"/>
    <p:sldId id="730" r:id="rId8"/>
    <p:sldId id="732" r:id="rId9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4CA6FB30-3A08-4FC9-8614-B204193284F3}">
          <p14:sldIdLst>
            <p14:sldId id="427"/>
            <p14:sldId id="673"/>
            <p14:sldId id="971"/>
            <p14:sldId id="951"/>
            <p14:sldId id="953"/>
            <p14:sldId id="954"/>
            <p14:sldId id="730"/>
            <p14:sldId id="73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DA2D716-3B7E-6162-E4CC-82B445EBDFE8}" name="최 재영" initials="최재" userId="d992d4872b0f84dd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  <a:srgbClr val="FF5050"/>
    <a:srgbClr val="4494FF"/>
    <a:srgbClr val="FFACF8"/>
    <a:srgbClr val="7E7E85"/>
    <a:srgbClr val="871A2B"/>
    <a:srgbClr val="008000"/>
    <a:srgbClr val="F1F1F1"/>
    <a:srgbClr val="C72F53"/>
    <a:srgbClr val="130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51" autoAdjust="0"/>
    <p:restoredTop sz="97416" autoAdjust="0"/>
  </p:normalViewPr>
  <p:slideViewPr>
    <p:cSldViewPr snapToGrid="0">
      <p:cViewPr varScale="1">
        <p:scale>
          <a:sx n="161" d="100"/>
          <a:sy n="161" d="100"/>
        </p:scale>
        <p:origin x="1912" y="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1" d="100"/>
          <a:sy n="121" d="100"/>
        </p:scale>
        <p:origin x="5020" y="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8/10/relationships/authors" Target="author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24B731-A149-48E9-9598-63F39D6B8585}" type="datetimeFigureOut">
              <a:rPr lang="ko-KR" altLang="en-US" smtClean="0"/>
              <a:t>2025-04-29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25238C-A8FC-4660-8003-59FEE05CC3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067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ko-KR"/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C12C1FE9-C985-48E7-9D27-2EA33FD38884}" type="slidenum">
              <a:rPr lang="ko-KR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326189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25238C-A8FC-4660-8003-59FEE05CC33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24504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25238C-A8FC-4660-8003-59FEE05CC33C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15025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25238C-A8FC-4660-8003-59FEE05CC33C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6577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25238C-A8FC-4660-8003-59FEE05CC33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58479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25238C-A8FC-4660-8003-59FEE05CC33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93017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25238C-A8FC-4660-8003-59FEE05CC33C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85052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796240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저작권</a:t>
            </a:r>
            <a:r>
              <a:rPr lang="en-US" altLang="ko-KR"/>
              <a:t>: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DB31EF5-36A9-416D-B185-4ED9FA0B49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3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저작권</a:t>
            </a:r>
            <a:r>
              <a:rPr lang="en-US" altLang="ko-KR"/>
              <a:t>: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DB31EF5-36A9-416D-B185-4ED9FA0B49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9754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저작권</a:t>
            </a:r>
            <a:r>
              <a:rPr lang="en-US" altLang="ko-KR"/>
              <a:t>: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DB31EF5-36A9-416D-B185-4ED9FA0B49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7439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저작권</a:t>
            </a:r>
            <a:r>
              <a:rPr lang="en-US" altLang="ko-KR"/>
              <a:t>:</a:t>
            </a: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DB31EF5-36A9-416D-B185-4ED9FA0B49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8282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저작권</a:t>
            </a:r>
            <a:r>
              <a:rPr lang="en-US" altLang="ko-KR"/>
              <a:t>: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DB31EF5-36A9-416D-B185-4ED9FA0B49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5366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저작권</a:t>
            </a:r>
            <a:r>
              <a:rPr lang="en-US" altLang="ko-KR"/>
              <a:t>: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DB31EF5-36A9-416D-B185-4ED9FA0B49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9875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저작권</a:t>
            </a:r>
            <a:r>
              <a:rPr lang="en-US" altLang="ko-KR"/>
              <a:t>: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DB31EF5-36A9-416D-B185-4ED9FA0B49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3092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4080463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979086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저작권</a:t>
            </a:r>
            <a:r>
              <a:rPr lang="en-US" altLang="ko-KR"/>
              <a:t>: AI School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DB31EF5-36A9-416D-B185-4ED9FA0B49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3400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723C48BE-5B83-4C1F-8FAA-AAAD084D4513}"/>
              </a:ext>
            </a:extLst>
          </p:cNvPr>
          <p:cNvSpPr/>
          <p:nvPr userDrawn="1"/>
        </p:nvSpPr>
        <p:spPr>
          <a:xfrm>
            <a:off x="0" y="6669360"/>
            <a:ext cx="9144000" cy="188640"/>
          </a:xfrm>
          <a:prstGeom prst="rect">
            <a:avLst/>
          </a:prstGeom>
          <a:solidFill>
            <a:srgbClr val="1C1F8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100" dirty="0"/>
              <a:t>Copyright ⓒ2025. Prof. Kang-Min Kim, The Catholic University of Korea. All rights reserved.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12511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5833E8-54F0-4BA2-9C0B-5572657F78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3608" y="5367338"/>
            <a:ext cx="8008952" cy="804862"/>
          </a:xfrm>
        </p:spPr>
        <p:txBody>
          <a:bodyPr/>
          <a:lstStyle/>
          <a:p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Homework</a:t>
            </a:r>
            <a:r>
              <a:rPr lang="ko-KR" altLang="en-US" sz="20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</a:p>
          <a:p>
            <a:r>
              <a:rPr lang="en-US" altLang="ko-KR" sz="2400" b="1" dirty="0">
                <a:latin typeface="Calibri"/>
                <a:ea typeface="+mn-lt"/>
                <a:cs typeface="Calibri"/>
              </a:rPr>
              <a:t>Computer Vision using Deep Learning (Object Detection)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AFFA9C6-FB54-407C-A282-92C582D2FC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141" y="2422079"/>
            <a:ext cx="1858903" cy="1368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576BBA2-3E12-88F2-2136-E342F74E58B0}"/>
              </a:ext>
            </a:extLst>
          </p:cNvPr>
          <p:cNvSpPr txBox="1">
            <a:spLocks/>
          </p:cNvSpPr>
          <p:nvPr/>
        </p:nvSpPr>
        <p:spPr>
          <a:xfrm>
            <a:off x="2830045" y="2800885"/>
            <a:ext cx="5522668" cy="620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2400" b="1" dirty="0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딥러닝 </a:t>
            </a:r>
            <a:r>
              <a:rPr lang="en-US" altLang="ko-KR" sz="2400" b="1" dirty="0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(Deep Learning)</a:t>
            </a:r>
          </a:p>
        </p:txBody>
      </p:sp>
    </p:spTree>
    <p:extLst>
      <p:ext uri="{BB962C8B-B14F-4D97-AF65-F5344CB8AC3E}">
        <p14:creationId xmlns:p14="http://schemas.microsoft.com/office/powerpoint/2010/main" val="3583922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F2C16A9-E29D-4B59-A80E-67681E9745E1}"/>
              </a:ext>
            </a:extLst>
          </p:cNvPr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제목 1">
            <a:extLst>
              <a:ext uri="{FF2B5EF4-FFF2-40B4-BE49-F238E27FC236}">
                <a16:creationId xmlns:a16="http://schemas.microsoft.com/office/drawing/2014/main" id="{AB84096A-C511-4FAC-ABE3-92606487E4E5}"/>
              </a:ext>
            </a:extLst>
          </p:cNvPr>
          <p:cNvSpPr txBox="1">
            <a:spLocks/>
          </p:cNvSpPr>
          <p:nvPr/>
        </p:nvSpPr>
        <p:spPr>
          <a:xfrm>
            <a:off x="1004285" y="0"/>
            <a:ext cx="8139715" cy="620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b="1" dirty="0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Programming assignments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867EF8BE-EBAD-402F-AAC0-8AEB64F97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3189"/>
            <a:ext cx="685407" cy="504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3F18C40D-D6B7-0166-1F37-12514B24A514}"/>
              </a:ext>
            </a:extLst>
          </p:cNvPr>
          <p:cNvSpPr/>
          <p:nvPr/>
        </p:nvSpPr>
        <p:spPr>
          <a:xfrm>
            <a:off x="35496" y="969616"/>
            <a:ext cx="907300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ko-KR" b="1" strike="sngStrike" dirty="0"/>
              <a:t>Deep Learning Basic</a:t>
            </a:r>
            <a:r>
              <a:rPr lang="en-US" altLang="ko-KR" b="1" dirty="0"/>
              <a:t>	 		</a:t>
            </a:r>
            <a:r>
              <a:rPr lang="en-US" altLang="ko-KR" sz="1800" b="1" strike="sngStrike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MLP</a:t>
            </a:r>
            <a:r>
              <a:rPr lang="en-US" altLang="ko-KR" sz="1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endParaRPr lang="en-US" altLang="ko-KR" b="1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b="1" strike="sngStrike" dirty="0"/>
              <a:t>Object Recognition</a:t>
            </a:r>
            <a:r>
              <a:rPr lang="en-US" altLang="ko-KR" b="1" dirty="0"/>
              <a:t>			</a:t>
            </a:r>
            <a:r>
              <a:rPr lang="en-US" altLang="ko-KR" sz="1800" b="1" strike="sngStrike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ResNet</a:t>
            </a:r>
            <a:endParaRPr lang="en-US" altLang="ko-KR" sz="1800" b="1" strike="sngStrike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b="1" strike="sngStrike" dirty="0"/>
              <a:t>Face Recognition</a:t>
            </a:r>
            <a:r>
              <a:rPr lang="en-US" altLang="ko-KR" b="1" dirty="0"/>
              <a:t>			</a:t>
            </a:r>
            <a:r>
              <a:rPr lang="en-US" altLang="ko-KR" b="1" strike="sngStrike" dirty="0">
                <a:solidFill>
                  <a:srgbClr val="7E7E85"/>
                </a:solidFill>
              </a:rPr>
              <a:t>Free choice model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b="1" strike="sngStrike" dirty="0"/>
              <a:t>NLU</a:t>
            </a:r>
            <a:r>
              <a:rPr lang="en-US" altLang="ko-KR" b="1" dirty="0"/>
              <a:t>	</a:t>
            </a:r>
            <a:r>
              <a:rPr lang="en-US" altLang="ko-KR" sz="1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				</a:t>
            </a:r>
            <a:r>
              <a:rPr lang="en-US" altLang="ko-KR" sz="1800" b="1" strike="sngStrike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CNN for Sentence Classification</a:t>
            </a:r>
            <a:endParaRPr lang="en-US" altLang="ko-KR" b="1" strike="sngStrike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b="1" dirty="0"/>
              <a:t>Object Detection			</a:t>
            </a:r>
            <a:r>
              <a:rPr lang="en-US" altLang="ko-KR" sz="1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YOLO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b="1" dirty="0"/>
              <a:t>Image Generation			</a:t>
            </a:r>
            <a:r>
              <a:rPr lang="en-US" altLang="ko-KR" sz="1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GAN, CGAN, DCGAN</a:t>
            </a:r>
            <a:endParaRPr lang="en-US" altLang="ko-KR" b="1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b="1" dirty="0"/>
              <a:t>NLG					</a:t>
            </a:r>
            <a:r>
              <a:rPr lang="en-US" altLang="ko-KR" sz="1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LSTM, Transformer</a:t>
            </a:r>
            <a:endParaRPr lang="en-US" altLang="ko-KR" b="1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b="1" dirty="0"/>
              <a:t>SSL for Computer Vision		</a:t>
            </a:r>
            <a:r>
              <a:rPr lang="en-US" altLang="ko-KR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ViT</a:t>
            </a:r>
            <a:endParaRPr lang="en-US" altLang="ko-KR" b="1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b="1" dirty="0"/>
              <a:t>SSL for NLP				</a:t>
            </a:r>
            <a:r>
              <a:rPr lang="en-US" altLang="ko-KR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BERT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b="1" dirty="0"/>
              <a:t>LLM					</a:t>
            </a:r>
            <a:r>
              <a:rPr lang="en-US" altLang="ko-KR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ChatGPT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372657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F2C16A9-E29D-4B59-A80E-67681E9745E1}"/>
              </a:ext>
            </a:extLst>
          </p:cNvPr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Picture 2">
            <a:extLst>
              <a:ext uri="{FF2B5EF4-FFF2-40B4-BE49-F238E27FC236}">
                <a16:creationId xmlns:a16="http://schemas.microsoft.com/office/drawing/2014/main" id="{867EF8BE-EBAD-402F-AAC0-8AEB64F97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3189"/>
            <a:ext cx="685407" cy="504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B84141-B460-A2F6-D581-0B3C1B14EA4A}"/>
              </a:ext>
            </a:extLst>
          </p:cNvPr>
          <p:cNvSpPr txBox="1"/>
          <p:nvPr/>
        </p:nvSpPr>
        <p:spPr>
          <a:xfrm>
            <a:off x="139055" y="914400"/>
            <a:ext cx="7961337" cy="4357131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endParaRPr lang="en-US" altLang="ko-KR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endParaRPr lang="en-US" altLang="ko-KR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500"/>
              </a:spcBef>
            </a:pPr>
            <a:endParaRPr lang="en-US" altLang="ko-KR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endParaRPr lang="en-US" altLang="ko-KR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Calibri" panose="020F0502020204030204" pitchFamily="34" charset="0"/>
                <a:cs typeface="Calibri" panose="020F0502020204030204" pitchFamily="34" charset="0"/>
              </a:rPr>
              <a:t>no mask </a:t>
            </a:r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- No mask at all.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Calibri" panose="020F0502020204030204" pitchFamily="34" charset="0"/>
                <a:cs typeface="Calibri" panose="020F0502020204030204" pitchFamily="34" charset="0"/>
              </a:rPr>
              <a:t>improperly </a:t>
            </a:r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- Partially covered face.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Calibri" panose="020F0502020204030204" pitchFamily="34" charset="0"/>
                <a:cs typeface="Calibri" panose="020F0502020204030204" pitchFamily="34" charset="0"/>
              </a:rPr>
              <a:t>mask </a:t>
            </a:r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- Mask covers the essential parts.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endParaRPr lang="en-US" altLang="ko-KR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3CB759E9-38C1-97B0-26EC-01DAD82FEA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9373838"/>
              </p:ext>
            </p:extLst>
          </p:nvPr>
        </p:nvGraphicFramePr>
        <p:xfrm>
          <a:off x="339564" y="1020061"/>
          <a:ext cx="7863191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1769">
                  <a:extLst>
                    <a:ext uri="{9D8B030D-6E8A-4147-A177-3AD203B41FA5}">
                      <a16:colId xmlns:a16="http://schemas.microsoft.com/office/drawing/2014/main" val="3426523892"/>
                    </a:ext>
                  </a:extLst>
                </a:gridCol>
                <a:gridCol w="4935342">
                  <a:extLst>
                    <a:ext uri="{9D8B030D-6E8A-4147-A177-3AD203B41FA5}">
                      <a16:colId xmlns:a16="http://schemas.microsoft.com/office/drawing/2014/main" val="2638322689"/>
                    </a:ext>
                  </a:extLst>
                </a:gridCol>
                <a:gridCol w="1066080">
                  <a:extLst>
                    <a:ext uri="{9D8B030D-6E8A-4147-A177-3AD203B41FA5}">
                      <a16:colId xmlns:a16="http://schemas.microsoft.com/office/drawing/2014/main" val="4194332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Data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Target</a:t>
                      </a:r>
                      <a:br>
                        <a:rPr lang="en-US" altLang="ko-KR" sz="16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Class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9447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Face mask detection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solidFill>
                            <a:srgbClr val="1F2328"/>
                          </a:solidFill>
                          <a:effectLst/>
                          <a:highlight>
                            <a:srgbClr val="FFFFFF"/>
                          </a:highlight>
                          <a:latin typeface="-apple-system"/>
                        </a:rPr>
                        <a:t>The dataset contains 853 images of people with and without masks. There are 3 different classes annotated.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716335"/>
                  </a:ext>
                </a:extLst>
              </a:tr>
            </a:tbl>
          </a:graphicData>
        </a:graphic>
      </p:graphicFrame>
      <p:sp>
        <p:nvSpPr>
          <p:cNvPr id="3" name="제목 1">
            <a:extLst>
              <a:ext uri="{FF2B5EF4-FFF2-40B4-BE49-F238E27FC236}">
                <a16:creationId xmlns:a16="http://schemas.microsoft.com/office/drawing/2014/main" id="{388D8950-84A4-DB44-84CC-FBB3810535FF}"/>
              </a:ext>
            </a:extLst>
          </p:cNvPr>
          <p:cNvSpPr txBox="1">
            <a:spLocks/>
          </p:cNvSpPr>
          <p:nvPr/>
        </p:nvSpPr>
        <p:spPr>
          <a:xfrm>
            <a:off x="1004285" y="0"/>
            <a:ext cx="8139715" cy="620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b="1" dirty="0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Assignment 5: Faster R-CNN for face mask detection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38AD5CF-F835-9BFF-B351-08CF33B833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38499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그림 7" descr="의류, 사람, 여성, 스크린샷이(가) 표시된 사진&#10;&#10;자동 생성된 설명">
            <a:extLst>
              <a:ext uri="{FF2B5EF4-FFF2-40B4-BE49-F238E27FC236}">
                <a16:creationId xmlns:a16="http://schemas.microsoft.com/office/drawing/2014/main" id="{B009E688-E518-6D31-FF12-C6FCB3447FE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79" t="16939" r="26413" b="15672"/>
          <a:stretch/>
        </p:blipFill>
        <p:spPr>
          <a:xfrm>
            <a:off x="4094582" y="3566726"/>
            <a:ext cx="3057865" cy="2537379"/>
          </a:xfrm>
          <a:prstGeom prst="rect">
            <a:avLst/>
          </a:prstGeom>
        </p:spPr>
      </p:pic>
      <p:pic>
        <p:nvPicPr>
          <p:cNvPr id="10" name="그림 9" descr="의류, 미소, 인간의 얼굴, 재킷이(가) 표시된 사진&#10;&#10;자동 생성된 설명">
            <a:extLst>
              <a:ext uri="{FF2B5EF4-FFF2-40B4-BE49-F238E27FC236}">
                <a16:creationId xmlns:a16="http://schemas.microsoft.com/office/drawing/2014/main" id="{B2943897-C3E8-9FB4-69E1-CBFB772327E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20" t="22732" r="19846" b="21810"/>
          <a:stretch/>
        </p:blipFill>
        <p:spPr>
          <a:xfrm>
            <a:off x="36692" y="3566726"/>
            <a:ext cx="4034303" cy="2537379"/>
          </a:xfrm>
          <a:prstGeom prst="rect">
            <a:avLst/>
          </a:prstGeom>
        </p:spPr>
      </p:pic>
      <p:pic>
        <p:nvPicPr>
          <p:cNvPr id="13" name="그림 12" descr="인간의 얼굴, 스크린샷, 의류, 사람이(가) 표시된 사진&#10;&#10;자동 생성된 설명">
            <a:extLst>
              <a:ext uri="{FF2B5EF4-FFF2-40B4-BE49-F238E27FC236}">
                <a16:creationId xmlns:a16="http://schemas.microsoft.com/office/drawing/2014/main" id="{9F349243-52BE-A495-C8E0-FC541FFC2431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33" t="12962" r="26836" b="11904"/>
          <a:stretch/>
        </p:blipFill>
        <p:spPr>
          <a:xfrm>
            <a:off x="7192920" y="3566726"/>
            <a:ext cx="1951080" cy="2537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453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F2C16A9-E29D-4B59-A80E-67681E9745E1}"/>
              </a:ext>
            </a:extLst>
          </p:cNvPr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Picture 2">
            <a:extLst>
              <a:ext uri="{FF2B5EF4-FFF2-40B4-BE49-F238E27FC236}">
                <a16:creationId xmlns:a16="http://schemas.microsoft.com/office/drawing/2014/main" id="{867EF8BE-EBAD-402F-AAC0-8AEB64F97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3189"/>
            <a:ext cx="685407" cy="504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B84141-B460-A2F6-D581-0B3C1B14EA4A}"/>
              </a:ext>
            </a:extLst>
          </p:cNvPr>
          <p:cNvSpPr txBox="1"/>
          <p:nvPr/>
        </p:nvSpPr>
        <p:spPr>
          <a:xfrm>
            <a:off x="139055" y="914400"/>
            <a:ext cx="7961337" cy="4357131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spcBef>
                <a:spcPts val="500"/>
              </a:spcBef>
            </a:pPr>
            <a:r>
              <a:rPr lang="en-US" altLang="ko-KR" sz="2000" b="1" dirty="0">
                <a:latin typeface="Calibri" panose="020F0502020204030204" pitchFamily="34" charset="0"/>
                <a:cs typeface="Calibri" panose="020F0502020204030204" pitchFamily="34" charset="0"/>
              </a:rPr>
              <a:t>[data]</a:t>
            </a:r>
          </a:p>
          <a:p>
            <a:pPr>
              <a:spcBef>
                <a:spcPts val="500"/>
              </a:spcBef>
            </a:pPr>
            <a:endParaRPr lang="en-US" altLang="ko-KR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500"/>
              </a:spcBef>
            </a:pPr>
            <a:endParaRPr lang="en-US" altLang="ko-KR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500"/>
              </a:spcBef>
            </a:pPr>
            <a:endParaRPr lang="en-US" altLang="ko-KR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500"/>
              </a:spcBef>
            </a:pPr>
            <a:endParaRPr lang="en-US" altLang="ko-KR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500"/>
              </a:spcBef>
            </a:pPr>
            <a:endParaRPr lang="en-US" altLang="ko-KR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500"/>
              </a:spcBef>
            </a:pPr>
            <a:endParaRPr lang="en-US" altLang="ko-KR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500"/>
              </a:spcBef>
            </a:pPr>
            <a:endParaRPr lang="en-US" altLang="ko-KR" sz="1200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515365EE-CF6C-D209-F196-EDB072AAF6CA}"/>
              </a:ext>
            </a:extLst>
          </p:cNvPr>
          <p:cNvSpPr txBox="1">
            <a:spLocks/>
          </p:cNvSpPr>
          <p:nvPr/>
        </p:nvSpPr>
        <p:spPr>
          <a:xfrm>
            <a:off x="1004285" y="0"/>
            <a:ext cx="8139715" cy="620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b="1" dirty="0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Assignment 5: Faster R-CNN for face mask detection</a:t>
            </a:r>
          </a:p>
        </p:txBody>
      </p:sp>
      <p:pic>
        <p:nvPicPr>
          <p:cNvPr id="4" name="그림 3" descr="의류, 사람, 여성, 스크린샷이(가) 표시된 사진&#10;&#10;자동 생성된 설명">
            <a:extLst>
              <a:ext uri="{FF2B5EF4-FFF2-40B4-BE49-F238E27FC236}">
                <a16:creationId xmlns:a16="http://schemas.microsoft.com/office/drawing/2014/main" id="{3CC5E50F-A394-DEC0-9000-1ABCBBDAB4B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79" t="16939" r="26413" b="15672"/>
          <a:stretch/>
        </p:blipFill>
        <p:spPr>
          <a:xfrm>
            <a:off x="305748" y="1944515"/>
            <a:ext cx="4058819" cy="336795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21D0E99-E105-4CE5-EBB7-28D1AEE505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3599" y="653727"/>
            <a:ext cx="2410020" cy="579552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7AC3B5CA-F043-4CAF-F118-F13F7CFA74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4129" y="620687"/>
            <a:ext cx="1712449" cy="6028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958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0FE8B19D-73E6-8EE9-422D-169F24E65F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21043"/>
            <a:ext cx="9144000" cy="3815914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F2C16A9-E29D-4B59-A80E-67681E9745E1}"/>
              </a:ext>
            </a:extLst>
          </p:cNvPr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Picture 2">
            <a:extLst>
              <a:ext uri="{FF2B5EF4-FFF2-40B4-BE49-F238E27FC236}">
                <a16:creationId xmlns:a16="http://schemas.microsoft.com/office/drawing/2014/main" id="{867EF8BE-EBAD-402F-AAC0-8AEB64F97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3189"/>
            <a:ext cx="685407" cy="504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E462D8F-E634-8438-CC65-EE4510624CAF}"/>
              </a:ext>
            </a:extLst>
          </p:cNvPr>
          <p:cNvSpPr txBox="1">
            <a:spLocks/>
          </p:cNvSpPr>
          <p:nvPr/>
        </p:nvSpPr>
        <p:spPr>
          <a:xfrm>
            <a:off x="1004285" y="0"/>
            <a:ext cx="8139715" cy="620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b="1" dirty="0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Assignment 5: Faster R-CNN for face mask detection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DDF2F-15A0-6AA5-839F-096112A63361}"/>
              </a:ext>
            </a:extLst>
          </p:cNvPr>
          <p:cNvSpPr/>
          <p:nvPr/>
        </p:nvSpPr>
        <p:spPr>
          <a:xfrm>
            <a:off x="1801091" y="2209348"/>
            <a:ext cx="7259782" cy="5219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094FC90-DFE6-E4A9-8D69-958067446AFE}"/>
              </a:ext>
            </a:extLst>
          </p:cNvPr>
          <p:cNvSpPr/>
          <p:nvPr/>
        </p:nvSpPr>
        <p:spPr>
          <a:xfrm>
            <a:off x="107504" y="2940038"/>
            <a:ext cx="8953369" cy="138653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AA5EE62-C4DD-6816-71CF-DD5BBF4C949A}"/>
              </a:ext>
            </a:extLst>
          </p:cNvPr>
          <p:cNvSpPr/>
          <p:nvPr/>
        </p:nvSpPr>
        <p:spPr>
          <a:xfrm>
            <a:off x="70128" y="4535290"/>
            <a:ext cx="8953369" cy="72943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6075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F2C16A9-E29D-4B59-A80E-67681E9745E1}"/>
              </a:ext>
            </a:extLst>
          </p:cNvPr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Picture 2">
            <a:extLst>
              <a:ext uri="{FF2B5EF4-FFF2-40B4-BE49-F238E27FC236}">
                <a16:creationId xmlns:a16="http://schemas.microsoft.com/office/drawing/2014/main" id="{867EF8BE-EBAD-402F-AAC0-8AEB64F97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3189"/>
            <a:ext cx="685407" cy="504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E462D8F-E634-8438-CC65-EE4510624CAF}"/>
              </a:ext>
            </a:extLst>
          </p:cNvPr>
          <p:cNvSpPr txBox="1">
            <a:spLocks/>
          </p:cNvSpPr>
          <p:nvPr/>
        </p:nvSpPr>
        <p:spPr>
          <a:xfrm>
            <a:off x="1004285" y="0"/>
            <a:ext cx="8139715" cy="620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b="1" dirty="0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Assignment 5: Faster R-CNN for face mask detection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8F0FE6FF-44A5-4718-456C-4F3A967776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9670838"/>
              </p:ext>
            </p:extLst>
          </p:nvPr>
        </p:nvGraphicFramePr>
        <p:xfrm>
          <a:off x="127956" y="2139330"/>
          <a:ext cx="8888088" cy="1728008"/>
        </p:xfrm>
        <a:graphic>
          <a:graphicData uri="http://schemas.openxmlformats.org/drawingml/2006/table">
            <a:tbl>
              <a:tblPr/>
              <a:tblGrid>
                <a:gridCol w="2316117">
                  <a:extLst>
                    <a:ext uri="{9D8B030D-6E8A-4147-A177-3AD203B41FA5}">
                      <a16:colId xmlns:a16="http://schemas.microsoft.com/office/drawing/2014/main" val="4207470608"/>
                    </a:ext>
                  </a:extLst>
                </a:gridCol>
                <a:gridCol w="6571971">
                  <a:extLst>
                    <a:ext uri="{9D8B030D-6E8A-4147-A177-3AD203B41FA5}">
                      <a16:colId xmlns:a16="http://schemas.microsoft.com/office/drawing/2014/main" val="2788689799"/>
                    </a:ext>
                  </a:extLst>
                </a:gridCol>
              </a:tblGrid>
              <a:tr h="218440">
                <a:tc>
                  <a:txBody>
                    <a:bodyPr/>
                    <a:lstStyle/>
                    <a:p>
                      <a:pPr marL="0" marR="0" indent="0" algn="just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Simplicity</a:t>
                      </a:r>
                    </a:p>
                  </a:txBody>
                  <a:tcPr marL="133653" marR="133653" marT="89102" marB="8910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How concisely did you write the code? </a:t>
                      </a:r>
                    </a:p>
                    <a:p>
                      <a:pPr marL="285750" marR="0" indent="-285750" algn="just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YOLO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모델로 수정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just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(model, </a:t>
                      </a:r>
                      <a:r>
                        <a:rPr lang="en-US" altLang="ko-KR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MaskDataset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133653" marR="133653" marT="89102" marB="8910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3026"/>
                  </a:ext>
                </a:extLst>
              </a:tr>
              <a:tr h="218440">
                <a:tc>
                  <a:txBody>
                    <a:bodyPr/>
                    <a:lstStyle/>
                    <a:p>
                      <a:pPr marL="0" marR="0" indent="0" algn="just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Performance</a:t>
                      </a:r>
                    </a:p>
                  </a:txBody>
                  <a:tcPr marL="133653" marR="133653" marT="89102" marB="8910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How well did the results of the code perform? </a:t>
                      </a:r>
                    </a:p>
                    <a:p>
                      <a:pPr marL="0" marR="0" indent="0" algn="just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-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직접 찍은 사진 추론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: 2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점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133653" marR="133653" marT="89102" marB="8910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0185813"/>
                  </a:ext>
                </a:extLst>
              </a:tr>
            </a:tbl>
          </a:graphicData>
        </a:graphic>
      </p:graphicFrame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13AF6977-12A2-F06A-B585-858AFA0653BE}"/>
              </a:ext>
            </a:extLst>
          </p:cNvPr>
          <p:cNvSpPr txBox="1">
            <a:spLocks/>
          </p:cNvSpPr>
          <p:nvPr/>
        </p:nvSpPr>
        <p:spPr>
          <a:xfrm>
            <a:off x="179512" y="1207542"/>
            <a:ext cx="8836532" cy="43513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800" b="1" dirty="0"/>
              <a:t>Evaluation Criteria</a:t>
            </a:r>
          </a:p>
        </p:txBody>
      </p:sp>
    </p:spTree>
    <p:extLst>
      <p:ext uri="{BB962C8B-B14F-4D97-AF65-F5344CB8AC3E}">
        <p14:creationId xmlns:p14="http://schemas.microsoft.com/office/powerpoint/2010/main" val="4042792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F2C16A9-E29D-4B59-A80E-67681E9745E1}"/>
              </a:ext>
            </a:extLst>
          </p:cNvPr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Picture 2">
            <a:extLst>
              <a:ext uri="{FF2B5EF4-FFF2-40B4-BE49-F238E27FC236}">
                <a16:creationId xmlns:a16="http://schemas.microsoft.com/office/drawing/2014/main" id="{867EF8BE-EBAD-402F-AAC0-8AEB64F97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3189"/>
            <a:ext cx="685407" cy="504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ABC077-2CE7-5C4E-620A-1B58E906093E}"/>
              </a:ext>
            </a:extLst>
          </p:cNvPr>
          <p:cNvSpPr txBox="1">
            <a:spLocks/>
          </p:cNvSpPr>
          <p:nvPr/>
        </p:nvSpPr>
        <p:spPr>
          <a:xfrm>
            <a:off x="180000" y="1340768"/>
            <a:ext cx="8964488" cy="509120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latin typeface="+mj-ea"/>
                <a:ea typeface="+mj-ea"/>
              </a:rPr>
              <a:t>Due</a:t>
            </a:r>
            <a:r>
              <a:rPr lang="ko-KR" altLang="en-US" sz="2400" dirty="0">
                <a:latin typeface="+mj-ea"/>
                <a:ea typeface="+mj-ea"/>
              </a:rPr>
              <a:t> </a:t>
            </a:r>
            <a:r>
              <a:rPr lang="en-US" altLang="ko-KR" sz="2400" dirty="0">
                <a:latin typeface="+mj-ea"/>
                <a:ea typeface="+mj-ea"/>
              </a:rPr>
              <a:t>to : </a:t>
            </a:r>
            <a:r>
              <a:rPr lang="en-US" altLang="ko-KR" sz="2400" b="1" dirty="0">
                <a:latin typeface="+mj-ea"/>
                <a:ea typeface="+mj-ea"/>
              </a:rPr>
              <a:t>~ 5/7 (Wed) 23:59:59</a:t>
            </a:r>
          </a:p>
          <a:p>
            <a:endParaRPr lang="en-US" altLang="ko-KR" sz="2400" dirty="0">
              <a:latin typeface="+mj-ea"/>
              <a:ea typeface="+mj-ea"/>
            </a:endParaRPr>
          </a:p>
          <a:p>
            <a:r>
              <a:rPr lang="en-US" altLang="ko-KR" sz="2400" dirty="0">
                <a:latin typeface="+mj-ea"/>
                <a:ea typeface="+mj-ea"/>
              </a:rPr>
              <a:t>Submission</a:t>
            </a:r>
            <a:r>
              <a:rPr lang="ko-KR" altLang="en-US" sz="2400" dirty="0">
                <a:latin typeface="+mj-ea"/>
                <a:ea typeface="+mj-ea"/>
              </a:rPr>
              <a:t> </a:t>
            </a:r>
            <a:r>
              <a:rPr lang="en-US" altLang="ko-KR" sz="2400" dirty="0">
                <a:latin typeface="+mj-ea"/>
                <a:ea typeface="+mj-ea"/>
              </a:rPr>
              <a:t>: Online submission on </a:t>
            </a:r>
            <a:r>
              <a:rPr lang="en-US" altLang="ko-KR" sz="2400" dirty="0" err="1">
                <a:latin typeface="+mj-ea"/>
                <a:ea typeface="+mj-ea"/>
              </a:rPr>
              <a:t>cybercampus</a:t>
            </a:r>
            <a:endParaRPr lang="en-US" altLang="ko-KR" sz="2400" dirty="0">
              <a:latin typeface="+mj-ea"/>
              <a:ea typeface="+mj-ea"/>
            </a:endParaRPr>
          </a:p>
          <a:p>
            <a:endParaRPr lang="en-US" altLang="ko-KR" sz="2400" dirty="0">
              <a:latin typeface="+mj-ea"/>
              <a:ea typeface="+mj-ea"/>
            </a:endParaRPr>
          </a:p>
          <a:p>
            <a:r>
              <a:rPr lang="en-US" altLang="ko-KR" sz="2400" dirty="0">
                <a:latin typeface="+mj-ea"/>
                <a:ea typeface="+mj-ea"/>
              </a:rPr>
              <a:t>Your submission should include</a:t>
            </a:r>
          </a:p>
          <a:p>
            <a:pPr marL="914400" lvl="1" indent="-457200">
              <a:buAutoNum type="arabicParenR"/>
            </a:pPr>
            <a:r>
              <a:rPr lang="en-US" altLang="ko-KR" sz="2400" dirty="0"/>
              <a:t>The whole code of your implementation</a:t>
            </a:r>
            <a:endParaRPr lang="en-US" altLang="ko-KR" sz="2800" dirty="0">
              <a:latin typeface="+mj-ea"/>
              <a:ea typeface="+mj-ea"/>
            </a:endParaRPr>
          </a:p>
          <a:p>
            <a:pPr marL="914400" lvl="1" indent="-457200">
              <a:buAutoNum type="arabicParenR"/>
            </a:pPr>
            <a:r>
              <a:rPr lang="en-US" altLang="ko-KR" sz="2400" dirty="0"/>
              <a:t>The evaluation report</a:t>
            </a:r>
          </a:p>
          <a:p>
            <a:pPr marL="0" indent="0">
              <a:buNone/>
            </a:pPr>
            <a:endParaRPr lang="en-US" altLang="ko-KR" sz="2400" dirty="0">
              <a:latin typeface="+mj-ea"/>
              <a:ea typeface="+mj-ea"/>
            </a:endParaRPr>
          </a:p>
          <a:p>
            <a:r>
              <a:rPr lang="en-US" altLang="ko-KR" sz="2400" dirty="0">
                <a:solidFill>
                  <a:srgbClr val="FF0000"/>
                </a:solidFill>
                <a:latin typeface="+mj-ea"/>
                <a:ea typeface="+mj-ea"/>
              </a:rPr>
              <a:t>You must implement the components yourself!</a:t>
            </a:r>
          </a:p>
          <a:p>
            <a:r>
              <a:rPr lang="en-US" altLang="ko-KR" sz="2400" dirty="0">
                <a:latin typeface="+mj-ea"/>
                <a:ea typeface="+mj-ea"/>
              </a:rPr>
              <a:t>File name : StudentID_Name_HW5.zip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88B0FE1B-D936-8ACD-889C-A17F43114EFD}"/>
              </a:ext>
            </a:extLst>
          </p:cNvPr>
          <p:cNvSpPr txBox="1">
            <a:spLocks/>
          </p:cNvSpPr>
          <p:nvPr/>
        </p:nvSpPr>
        <p:spPr>
          <a:xfrm>
            <a:off x="1004285" y="0"/>
            <a:ext cx="8139715" cy="620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b="1" dirty="0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Assignment 5: Faster R-CNN for face mask detection</a:t>
            </a:r>
          </a:p>
        </p:txBody>
      </p:sp>
    </p:spTree>
    <p:extLst>
      <p:ext uri="{BB962C8B-B14F-4D97-AF65-F5344CB8AC3E}">
        <p14:creationId xmlns:p14="http://schemas.microsoft.com/office/powerpoint/2010/main" val="59726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19D4332-937C-14D7-2146-7B0D995C6B34}"/>
              </a:ext>
            </a:extLst>
          </p:cNvPr>
          <p:cNvSpPr txBox="1">
            <a:spLocks/>
          </p:cNvSpPr>
          <p:nvPr/>
        </p:nvSpPr>
        <p:spPr>
          <a:xfrm>
            <a:off x="2555776" y="2708920"/>
            <a:ext cx="5256584" cy="9604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16600" b="1" dirty="0"/>
              <a:t>Q</a:t>
            </a:r>
            <a:r>
              <a:rPr lang="en-US" altLang="ko-KR" sz="9600" b="1" dirty="0"/>
              <a:t>&amp;</a:t>
            </a:r>
            <a:r>
              <a:rPr lang="en-US" altLang="ko-KR" sz="16600" b="1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500875422"/>
      </p:ext>
    </p:extLst>
  </p:cSld>
  <p:clrMapOvr>
    <a:masterClrMapping/>
  </p:clrMapOvr>
</p:sld>
</file>

<file path=ppt/theme/theme1.xml><?xml version="1.0" encoding="utf-8"?>
<a:theme xmlns:a="http://schemas.openxmlformats.org/drawingml/2006/main" name="테마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/>
      <a:lstStyle>
        <a:defPPr algn="l">
          <a:defRPr sz="2000" b="1" dirty="0">
            <a:latin typeface="Calibri" panose="020F0502020204030204" pitchFamily="34" charset="0"/>
            <a:cs typeface="Calibri" panose="020F05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테마1" id="{D9BDF30F-3B36-4CEA-A9C9-0D5C5C06D51F}" vid="{20C366B2-3576-4F75-B35B-B2813EC3E1EB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13807</TotalTime>
  <Words>294</Words>
  <Application>Microsoft Office PowerPoint</Application>
  <PresentationFormat>화면 슬라이드 쇼(4:3)</PresentationFormat>
  <Paragraphs>64</Paragraphs>
  <Slides>8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-apple-system</vt:lpstr>
      <vt:lpstr>맑은 고딕</vt:lpstr>
      <vt:lpstr>Arial</vt:lpstr>
      <vt:lpstr>Calibri</vt:lpstr>
      <vt:lpstr>테마1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821022795787</dc:creator>
  <cp:lastModifiedBy>KimKang-Min</cp:lastModifiedBy>
  <cp:revision>178</cp:revision>
  <dcterms:created xsi:type="dcterms:W3CDTF">2020-09-08T07:38:37Z</dcterms:created>
  <dcterms:modified xsi:type="dcterms:W3CDTF">2025-04-29T01:28:29Z</dcterms:modified>
</cp:coreProperties>
</file>