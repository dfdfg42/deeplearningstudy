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1"/>
  </p:notesMasterIdLst>
  <p:sldIdLst>
    <p:sldId id="956" r:id="rId2"/>
    <p:sldId id="959" r:id="rId3"/>
    <p:sldId id="955" r:id="rId4"/>
    <p:sldId id="702" r:id="rId5"/>
    <p:sldId id="953" r:id="rId6"/>
    <p:sldId id="958" r:id="rId7"/>
    <p:sldId id="954" r:id="rId8"/>
    <p:sldId id="730" r:id="rId9"/>
    <p:sldId id="732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CA6FB30-3A08-4FC9-8614-B204193284F3}">
          <p14:sldIdLst>
            <p14:sldId id="956"/>
            <p14:sldId id="959"/>
            <p14:sldId id="955"/>
            <p14:sldId id="702"/>
            <p14:sldId id="953"/>
            <p14:sldId id="958"/>
            <p14:sldId id="954"/>
            <p14:sldId id="730"/>
            <p14:sldId id="73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DA2D716-3B7E-6162-E4CC-82B445EBDFE8}" name="최 재영" initials="최재" userId="d992d4872b0f84d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4494FF"/>
    <a:srgbClr val="FFACF8"/>
    <a:srgbClr val="7E7E85"/>
    <a:srgbClr val="871A2B"/>
    <a:srgbClr val="008000"/>
    <a:srgbClr val="F1F1F1"/>
    <a:srgbClr val="C72F53"/>
    <a:srgbClr val="130DFF"/>
    <a:srgbClr val="646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1" autoAdjust="0"/>
    <p:restoredTop sz="97416" autoAdjust="0"/>
  </p:normalViewPr>
  <p:slideViewPr>
    <p:cSldViewPr snapToGrid="0">
      <p:cViewPr varScale="1">
        <p:scale>
          <a:sx n="161" d="100"/>
          <a:sy n="161" d="100"/>
        </p:scale>
        <p:origin x="1912" y="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24B731-A149-48E9-9598-63F39D6B8585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25238C-A8FC-4660-8003-59FEE05CC3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67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ko-KR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12C1FE9-C985-48E7-9D27-2EA33FD38884}" type="slidenum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32618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450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502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161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8479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518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93017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8505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96240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3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754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43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282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366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875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09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408046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979086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 AI School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400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23C48BE-5B83-4C1F-8FAA-AAAD084D4513}"/>
              </a:ext>
            </a:extLst>
          </p:cNvPr>
          <p:cNvSpPr/>
          <p:nvPr userDrawn="1"/>
        </p:nvSpPr>
        <p:spPr>
          <a:xfrm>
            <a:off x="0" y="6669360"/>
            <a:ext cx="9144000" cy="188640"/>
          </a:xfrm>
          <a:prstGeom prst="rect">
            <a:avLst/>
          </a:prstGeom>
          <a:solidFill>
            <a:srgbClr val="1C1F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100"/>
              <a:t>Copyright ⓒ2023. Prof. Kang-Min Kim, The Catholic University of Korea. All rights reserved.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212511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models" TargetMode="External"/><Relationship Id="rId5" Type="http://schemas.openxmlformats.org/officeDocument/2006/relationships/hyperlink" Target="https://huggingface.co/datasets" TargetMode="External"/><Relationship Id="rId4" Type="http://schemas.openxmlformats.org/officeDocument/2006/relationships/hyperlink" Target="https://huggingface.co/docs/transformers/main_classes/trainer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5833E8-54F0-4BA2-9C0B-5572657F7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3608" y="5367338"/>
            <a:ext cx="8008952" cy="804862"/>
          </a:xfrm>
        </p:spPr>
        <p:txBody>
          <a:bodyPr/>
          <a:lstStyle/>
          <a:p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Homework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  <a:p>
            <a:r>
              <a:rPr lang="en-US" altLang="ko-KR" sz="2400" b="1" dirty="0">
                <a:latin typeface="Calibri"/>
                <a:ea typeface="+mn-lt"/>
                <a:cs typeface="Calibri"/>
              </a:rPr>
              <a:t>Self-supervised Learning for NLP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AFFA9C6-FB54-407C-A282-92C582D2F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141" y="2422079"/>
            <a:ext cx="1858903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576BBA2-3E12-88F2-2136-E342F74E58B0}"/>
              </a:ext>
            </a:extLst>
          </p:cNvPr>
          <p:cNvSpPr txBox="1">
            <a:spLocks/>
          </p:cNvSpPr>
          <p:nvPr/>
        </p:nvSpPr>
        <p:spPr>
          <a:xfrm>
            <a:off x="2830045" y="2800885"/>
            <a:ext cx="5522668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딥러닝 </a:t>
            </a:r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(Deep Learning)</a:t>
            </a:r>
          </a:p>
        </p:txBody>
      </p:sp>
    </p:spTree>
    <p:extLst>
      <p:ext uri="{BB962C8B-B14F-4D97-AF65-F5344CB8AC3E}">
        <p14:creationId xmlns:p14="http://schemas.microsoft.com/office/powerpoint/2010/main" val="3110018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AB84096A-C511-4FAC-ABE3-92606487E4E5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Programming assignments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3F18C40D-D6B7-0166-1F37-12514B24A514}"/>
              </a:ext>
            </a:extLst>
          </p:cNvPr>
          <p:cNvSpPr/>
          <p:nvPr/>
        </p:nvSpPr>
        <p:spPr>
          <a:xfrm>
            <a:off x="35496" y="969616"/>
            <a:ext cx="907300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b="1" strike="sngStrike" dirty="0"/>
              <a:t>Deep Learning Basic</a:t>
            </a:r>
            <a:r>
              <a:rPr lang="en-US" altLang="ko-KR" b="1" dirty="0"/>
              <a:t>	 		</a:t>
            </a:r>
            <a:r>
              <a:rPr lang="en-US" altLang="ko-KR" sz="1800" b="1" strike="sngStrik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MLP</a:t>
            </a:r>
            <a:r>
              <a:rPr lang="en-US" altLang="ko-KR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strike="sngStrike" dirty="0"/>
              <a:t>Object Recognition</a:t>
            </a:r>
            <a:r>
              <a:rPr lang="en-US" altLang="ko-KR" b="1" dirty="0"/>
              <a:t>			</a:t>
            </a:r>
            <a:r>
              <a:rPr lang="en-US" altLang="ko-KR" sz="1800" b="1" strike="sngStrike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ResNet</a:t>
            </a:r>
            <a:endParaRPr lang="en-US" altLang="ko-KR" sz="1800" b="1" strike="sngStrike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b="1" strike="sngStrike" dirty="0"/>
              <a:t>Face Recognition</a:t>
            </a:r>
            <a:r>
              <a:rPr lang="en-US" altLang="ko-KR" b="1" dirty="0"/>
              <a:t>			</a:t>
            </a:r>
            <a:r>
              <a:rPr lang="en-US" altLang="ko-KR" b="1" strike="sngStrike" dirty="0">
                <a:solidFill>
                  <a:srgbClr val="7E7E85"/>
                </a:solidFill>
              </a:rPr>
              <a:t>Free choice model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b="1" strike="sngStrike" dirty="0"/>
              <a:t>NLU</a:t>
            </a:r>
            <a:r>
              <a:rPr lang="en-US" altLang="ko-KR" b="1" dirty="0"/>
              <a:t>	</a:t>
            </a:r>
            <a:r>
              <a:rPr lang="en-US" altLang="ko-KR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				</a:t>
            </a:r>
            <a:r>
              <a:rPr lang="en-US" altLang="ko-KR" sz="1800" b="1" strike="sngStrik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CNN for Sentence Classification</a:t>
            </a:r>
            <a:endParaRPr lang="en-US" altLang="ko-KR" b="1" strike="sngStrike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strike="sngStrike" dirty="0"/>
              <a:t>Object Detection</a:t>
            </a:r>
            <a:r>
              <a:rPr lang="en-US" altLang="ko-KR" b="1" dirty="0"/>
              <a:t>			</a:t>
            </a:r>
            <a:r>
              <a:rPr lang="en-US" altLang="ko-KR" sz="1800" b="1" strike="sngStrik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YOLO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b="1" strike="sngStrike" dirty="0"/>
              <a:t>Image Generation</a:t>
            </a:r>
            <a:r>
              <a:rPr lang="en-US" altLang="ko-KR" b="1" dirty="0"/>
              <a:t>			</a:t>
            </a:r>
            <a:r>
              <a:rPr lang="en-US" altLang="ko-KR" sz="1800" b="1" strike="sngStrik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GAN, CGAN, DCGAN</a:t>
            </a:r>
            <a:endParaRPr lang="en-US" altLang="ko-KR" b="1" strike="sngStrike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strike="sngStrike" dirty="0"/>
              <a:t>NLG</a:t>
            </a:r>
            <a:r>
              <a:rPr lang="en-US" altLang="ko-KR" b="1" dirty="0"/>
              <a:t>					</a:t>
            </a:r>
            <a:r>
              <a:rPr lang="en-US" altLang="ko-KR" sz="1800" b="1" strike="sngStrik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LSTM</a:t>
            </a:r>
            <a:endParaRPr lang="en-US" altLang="ko-KR" b="1" strike="sngStrike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SSL for Computer Vision		</a:t>
            </a:r>
            <a:r>
              <a:rPr lang="en-US" altLang="ko-KR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ViT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SSL for NLP				</a:t>
            </a: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BERT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LLM					</a:t>
            </a: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ChatGPT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472512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B84141-B460-A2F6-D581-0B3C1B14EA4A}"/>
              </a:ext>
            </a:extLst>
          </p:cNvPr>
          <p:cNvSpPr txBox="1"/>
          <p:nvPr/>
        </p:nvSpPr>
        <p:spPr>
          <a:xfrm>
            <a:off x="139055" y="914400"/>
            <a:ext cx="7961337" cy="435713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500"/>
              </a:spcBef>
            </a:pP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[Dataset]</a:t>
            </a: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SearchCreativeWork</a:t>
            </a:r>
            <a:r>
              <a:rPr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  <a:t> (e.g. Find me the I, Robot television show),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GetWeather</a:t>
            </a:r>
            <a:r>
              <a:rPr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  <a:t> (e.g. Is it windy in Boston, MA right now?),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BookRestaurant</a:t>
            </a:r>
            <a:r>
              <a:rPr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  <a:t> (e.g. I want to book a highly rated restaurant in Paris tomorrow night),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PlayMusic</a:t>
            </a:r>
            <a:r>
              <a:rPr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  <a:t> (e.g. Play the last track from Beyoncé off Spotify),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AddToPlaylist</a:t>
            </a:r>
            <a:r>
              <a:rPr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  <a:t> (e.g. Add Diamonds to my </a:t>
            </a:r>
            <a:r>
              <a:rPr lang="en-US" altLang="ko-KR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roadtrip</a:t>
            </a:r>
            <a:r>
              <a:rPr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  <a:t> playlist),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RateBook</a:t>
            </a:r>
            <a:r>
              <a:rPr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  <a:t> (e.g. Give 6 stars to Of Mice and Men),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SearchScreeningEvent</a:t>
            </a:r>
            <a:r>
              <a:rPr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  <a:t> (e.g. Check the showtimes for Wonder Woman in Paris). </a:t>
            </a:r>
            <a:br>
              <a:rPr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altLang="ko-K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  <a:t>The training set contains of 13,084 utterances, the validation set and the test set contain 700 utterances each, with 100 queries per intent.</a:t>
            </a:r>
            <a:endParaRPr lang="en-US" altLang="ko-KR" sz="1050" dirty="0"/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CB759E9-38C1-97B0-26EC-01DAD82FEA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859688"/>
              </p:ext>
            </p:extLst>
          </p:nvPr>
        </p:nvGraphicFramePr>
        <p:xfrm>
          <a:off x="640405" y="1772165"/>
          <a:ext cx="7863191" cy="168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499">
                  <a:extLst>
                    <a:ext uri="{9D8B030D-6E8A-4147-A177-3AD203B41FA5}">
                      <a16:colId xmlns:a16="http://schemas.microsoft.com/office/drawing/2014/main" val="3426523892"/>
                    </a:ext>
                  </a:extLst>
                </a:gridCol>
                <a:gridCol w="4060612">
                  <a:extLst>
                    <a:ext uri="{9D8B030D-6E8A-4147-A177-3AD203B41FA5}">
                      <a16:colId xmlns:a16="http://schemas.microsoft.com/office/drawing/2014/main" val="2638322689"/>
                    </a:ext>
                  </a:extLst>
                </a:gridCol>
                <a:gridCol w="1066080">
                  <a:extLst>
                    <a:ext uri="{9D8B030D-6E8A-4147-A177-3AD203B41FA5}">
                      <a16:colId xmlns:a16="http://schemas.microsoft.com/office/drawing/2014/main" val="419433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Target</a:t>
                      </a:r>
                      <a:br>
                        <a:rPr lang="en-US" altLang="ko-KR" sz="16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Class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447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MR (Pang and Lee, 2005)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Movie reviews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16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SNIPS (https://paperswithcode.com/dataset/snips)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Classifying a queries into 7 user intents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006962"/>
                  </a:ext>
                </a:extLst>
              </a:tr>
            </a:tbl>
          </a:graphicData>
        </a:graphic>
      </p:graphicFrame>
      <p:sp>
        <p:nvSpPr>
          <p:cNvPr id="3" name="제목 1">
            <a:extLst>
              <a:ext uri="{FF2B5EF4-FFF2-40B4-BE49-F238E27FC236}">
                <a16:creationId xmlns:a16="http://schemas.microsoft.com/office/drawing/2014/main" id="{388D8950-84A4-DB44-84CC-FBB3810535FF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9: BERT for text classification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E0A5E78-CBBD-90C9-9CFE-A63448DF6C17}"/>
              </a:ext>
            </a:extLst>
          </p:cNvPr>
          <p:cNvSpPr/>
          <p:nvPr/>
        </p:nvSpPr>
        <p:spPr>
          <a:xfrm>
            <a:off x="640404" y="2327564"/>
            <a:ext cx="7893996" cy="4156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493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AB84096A-C511-4FAC-ABE3-92606487E4E5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9: BERT for text classification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EF99A73-3B4A-F862-7A84-DFC986035A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91" y="1267596"/>
            <a:ext cx="8006052" cy="4623532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463EBF3-4310-1B3A-A978-A0D118490F71}"/>
              </a:ext>
            </a:extLst>
          </p:cNvPr>
          <p:cNvSpPr/>
          <p:nvPr/>
        </p:nvSpPr>
        <p:spPr>
          <a:xfrm>
            <a:off x="3681352" y="1267596"/>
            <a:ext cx="661060" cy="45382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8508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B84141-B460-A2F6-D581-0B3C1B14EA4A}"/>
              </a:ext>
            </a:extLst>
          </p:cNvPr>
          <p:cNvSpPr txBox="1"/>
          <p:nvPr/>
        </p:nvSpPr>
        <p:spPr>
          <a:xfrm>
            <a:off x="139055" y="914400"/>
            <a:ext cx="7961337" cy="435713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500"/>
              </a:spcBef>
            </a:pP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[Evaluation report]</a:t>
            </a: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12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E462D8F-E634-8438-CC65-EE4510624CAF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9: BERT for text classification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8B6A9E0-5861-DCA1-219D-1E257341A4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2" y="1555669"/>
            <a:ext cx="8961136" cy="414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075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E462D8F-E634-8438-CC65-EE4510624CAF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 </a:t>
            </a:r>
            <a:r>
              <a:rPr lang="en-US" altLang="ko-KR" sz="2400" b="1" dirty="0" err="1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training_args</a:t>
            </a:r>
            <a:endParaRPr lang="en-US" altLang="ko-KR" sz="2400" b="1" dirty="0">
              <a:solidFill>
                <a:srgbClr val="1C1F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3AF6977-12A2-F06A-B585-858AFA0653BE}"/>
              </a:ext>
            </a:extLst>
          </p:cNvPr>
          <p:cNvSpPr txBox="1">
            <a:spLocks/>
          </p:cNvSpPr>
          <p:nvPr/>
        </p:nvSpPr>
        <p:spPr>
          <a:xfrm>
            <a:off x="179512" y="898785"/>
            <a:ext cx="8836532" cy="43513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b="1" dirty="0">
                <a:hlinkClick r:id="rId4"/>
              </a:rPr>
              <a:t>https://huggingface.co/docs/transformers/main_classes/trainer</a:t>
            </a:r>
            <a:endParaRPr lang="en-US" altLang="ko-KR" sz="1800" b="1" dirty="0"/>
          </a:p>
          <a:p>
            <a:r>
              <a:rPr lang="en-US" altLang="ko-KR" sz="1800" b="1" dirty="0">
                <a:hlinkClick r:id="rId5"/>
              </a:rPr>
              <a:t>https://huggingface.co/datasets</a:t>
            </a:r>
            <a:endParaRPr lang="en-US" altLang="ko-KR" sz="1800" b="1" dirty="0"/>
          </a:p>
          <a:p>
            <a:r>
              <a:rPr lang="en-US" altLang="ko-KR" sz="1800" b="1" dirty="0">
                <a:hlinkClick r:id="rId6"/>
              </a:rPr>
              <a:t>https://huggingface.co/models</a:t>
            </a:r>
            <a:endParaRPr lang="en-US" altLang="ko-KR" sz="1800" b="1" dirty="0"/>
          </a:p>
          <a:p>
            <a:endParaRPr lang="en-US" altLang="ko-KR" sz="1800" b="1" dirty="0"/>
          </a:p>
          <a:p>
            <a:endParaRPr lang="en-US" altLang="ko-KR" sz="1800" b="1" dirty="0"/>
          </a:p>
          <a:p>
            <a:endParaRPr lang="en-US" altLang="ko-KR" sz="18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580F657-7558-33DC-1F1E-71C392DC4F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471" y="2063093"/>
            <a:ext cx="4727456" cy="401979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E25891F-61C4-F588-2E3E-4AE309370D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6886" y="1813075"/>
            <a:ext cx="4226071" cy="475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006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E462D8F-E634-8438-CC65-EE4510624CAF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9: BERT for text classification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F0FE6FF-44A5-4718-456C-4F3A96777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808168"/>
              </p:ext>
            </p:extLst>
          </p:nvPr>
        </p:nvGraphicFramePr>
        <p:xfrm>
          <a:off x="127956" y="2139330"/>
          <a:ext cx="8888088" cy="2276648"/>
        </p:xfrm>
        <a:graphic>
          <a:graphicData uri="http://schemas.openxmlformats.org/drawingml/2006/table">
            <a:tbl>
              <a:tblPr/>
              <a:tblGrid>
                <a:gridCol w="2316117">
                  <a:extLst>
                    <a:ext uri="{9D8B030D-6E8A-4147-A177-3AD203B41FA5}">
                      <a16:colId xmlns:a16="http://schemas.microsoft.com/office/drawing/2014/main" val="4207470608"/>
                    </a:ext>
                  </a:extLst>
                </a:gridCol>
                <a:gridCol w="6571971">
                  <a:extLst>
                    <a:ext uri="{9D8B030D-6E8A-4147-A177-3AD203B41FA5}">
                      <a16:colId xmlns:a16="http://schemas.microsoft.com/office/drawing/2014/main" val="2788689799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Simplicity</a:t>
                      </a:r>
                    </a:p>
                  </a:txBody>
                  <a:tcPr marL="133653" marR="133653" marT="89102" marB="891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How concisely did you write the code? </a:t>
                      </a:r>
                    </a:p>
                    <a:p>
                      <a:pPr marL="285750" marR="0" indent="-28575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배점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MR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데이터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전처리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2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3653" marR="133653" marT="89102" marB="891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3026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Performance</a:t>
                      </a:r>
                    </a:p>
                  </a:txBody>
                  <a:tcPr marL="133653" marR="133653" marT="89102" marB="891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How well did the results of the code perform? </a:t>
                      </a:r>
                    </a:p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배점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marR="0" indent="-28575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set accuracy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87.5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 달성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2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marR="0" indent="-28575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One review sentence inference: 1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점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3653" marR="133653" marT="89102" marB="891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185813"/>
                  </a:ext>
                </a:extLst>
              </a:tr>
            </a:tbl>
          </a:graphicData>
        </a:graphic>
      </p:graphicFrame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3AF6977-12A2-F06A-B585-858AFA0653BE}"/>
              </a:ext>
            </a:extLst>
          </p:cNvPr>
          <p:cNvSpPr txBox="1">
            <a:spLocks/>
          </p:cNvSpPr>
          <p:nvPr/>
        </p:nvSpPr>
        <p:spPr>
          <a:xfrm>
            <a:off x="179512" y="1207542"/>
            <a:ext cx="8836532" cy="43513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b="1" dirty="0"/>
              <a:t>Evaluation Criteria</a:t>
            </a:r>
          </a:p>
        </p:txBody>
      </p:sp>
    </p:spTree>
    <p:extLst>
      <p:ext uri="{BB962C8B-B14F-4D97-AF65-F5344CB8AC3E}">
        <p14:creationId xmlns:p14="http://schemas.microsoft.com/office/powerpoint/2010/main" val="4042792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ABC077-2CE7-5C4E-620A-1B58E906093E}"/>
              </a:ext>
            </a:extLst>
          </p:cNvPr>
          <p:cNvSpPr txBox="1">
            <a:spLocks/>
          </p:cNvSpPr>
          <p:nvPr/>
        </p:nvSpPr>
        <p:spPr>
          <a:xfrm>
            <a:off x="180000" y="1340768"/>
            <a:ext cx="8964488" cy="50912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latin typeface="+mj-ea"/>
                <a:ea typeface="+mj-ea"/>
              </a:rPr>
              <a:t>Due</a:t>
            </a:r>
            <a:r>
              <a:rPr lang="ko-KR" altLang="en-US" sz="2400" dirty="0">
                <a:latin typeface="+mj-ea"/>
                <a:ea typeface="+mj-ea"/>
              </a:rPr>
              <a:t> </a:t>
            </a:r>
            <a:r>
              <a:rPr lang="en-US" altLang="ko-KR" sz="2400" dirty="0">
                <a:latin typeface="+mj-ea"/>
                <a:ea typeface="+mj-ea"/>
              </a:rPr>
              <a:t>to : </a:t>
            </a:r>
            <a:r>
              <a:rPr lang="en-US" altLang="ko-KR" sz="2400" b="1" dirty="0">
                <a:latin typeface="+mj-ea"/>
                <a:ea typeface="+mj-ea"/>
              </a:rPr>
              <a:t>~ 6/13 (Fri) 23:59:59</a:t>
            </a:r>
          </a:p>
          <a:p>
            <a:endParaRPr lang="en-US" altLang="ko-KR" sz="2400" dirty="0">
              <a:latin typeface="+mj-ea"/>
              <a:ea typeface="+mj-ea"/>
            </a:endParaRPr>
          </a:p>
          <a:p>
            <a:r>
              <a:rPr lang="en-US" altLang="ko-KR" sz="2400" dirty="0">
                <a:latin typeface="+mj-ea"/>
                <a:ea typeface="+mj-ea"/>
              </a:rPr>
              <a:t>Submission</a:t>
            </a:r>
            <a:r>
              <a:rPr lang="ko-KR" altLang="en-US" sz="2400" dirty="0">
                <a:latin typeface="+mj-ea"/>
                <a:ea typeface="+mj-ea"/>
              </a:rPr>
              <a:t> </a:t>
            </a:r>
            <a:r>
              <a:rPr lang="en-US" altLang="ko-KR" sz="2400" dirty="0">
                <a:latin typeface="+mj-ea"/>
                <a:ea typeface="+mj-ea"/>
              </a:rPr>
              <a:t>: Online submission on </a:t>
            </a:r>
            <a:r>
              <a:rPr lang="en-US" altLang="ko-KR" sz="2400" dirty="0" err="1">
                <a:latin typeface="+mj-ea"/>
                <a:ea typeface="+mj-ea"/>
              </a:rPr>
              <a:t>cybercampus</a:t>
            </a:r>
            <a:endParaRPr lang="en-US" altLang="ko-KR" sz="2400" dirty="0">
              <a:latin typeface="+mj-ea"/>
              <a:ea typeface="+mj-ea"/>
            </a:endParaRPr>
          </a:p>
          <a:p>
            <a:endParaRPr lang="en-US" altLang="ko-KR" sz="2400" dirty="0">
              <a:latin typeface="+mj-ea"/>
              <a:ea typeface="+mj-ea"/>
            </a:endParaRPr>
          </a:p>
          <a:p>
            <a:r>
              <a:rPr lang="en-US" altLang="ko-KR" sz="2400" dirty="0">
                <a:latin typeface="+mj-ea"/>
                <a:ea typeface="+mj-ea"/>
              </a:rPr>
              <a:t>Your submission should include</a:t>
            </a:r>
          </a:p>
          <a:p>
            <a:pPr marL="914400" lvl="1" indent="-457200">
              <a:buAutoNum type="arabicParenR"/>
            </a:pPr>
            <a:r>
              <a:rPr lang="en-US" altLang="ko-KR" sz="2400" dirty="0"/>
              <a:t>The whole code of your implementation</a:t>
            </a:r>
            <a:endParaRPr lang="en-US" altLang="ko-KR" sz="2800" dirty="0">
              <a:latin typeface="+mj-ea"/>
              <a:ea typeface="+mj-ea"/>
            </a:endParaRPr>
          </a:p>
          <a:p>
            <a:pPr marL="914400" lvl="1" indent="-457200">
              <a:buAutoNum type="arabicParenR"/>
            </a:pPr>
            <a:r>
              <a:rPr lang="en-US" altLang="ko-KR" sz="2400" dirty="0"/>
              <a:t>The evaluation report</a:t>
            </a:r>
          </a:p>
          <a:p>
            <a:pPr marL="0" indent="0">
              <a:buNone/>
            </a:pPr>
            <a:endParaRPr lang="en-US" altLang="ko-KR" sz="2400" dirty="0">
              <a:latin typeface="+mj-ea"/>
              <a:ea typeface="+mj-ea"/>
            </a:endParaRPr>
          </a:p>
          <a:p>
            <a:r>
              <a:rPr lang="en-US" altLang="ko-KR" sz="2400" dirty="0">
                <a:solidFill>
                  <a:srgbClr val="FF0000"/>
                </a:solidFill>
                <a:latin typeface="+mj-ea"/>
                <a:ea typeface="+mj-ea"/>
              </a:rPr>
              <a:t>You must implement the components yourself!</a:t>
            </a:r>
          </a:p>
          <a:p>
            <a:r>
              <a:rPr lang="en-US" altLang="ko-KR" sz="2400" dirty="0">
                <a:latin typeface="+mj-ea"/>
                <a:ea typeface="+mj-ea"/>
              </a:rPr>
              <a:t>File name : StudentID_Name</a:t>
            </a:r>
            <a:r>
              <a:rPr lang="en-US" altLang="ko-KR" sz="2400">
                <a:latin typeface="+mj-ea"/>
                <a:ea typeface="+mj-ea"/>
              </a:rPr>
              <a:t>_HW9.</a:t>
            </a:r>
            <a:r>
              <a:rPr lang="en-US" altLang="ko-KR" sz="2400" dirty="0">
                <a:latin typeface="+mj-ea"/>
                <a:ea typeface="+mj-ea"/>
              </a:rPr>
              <a:t>zip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8B0FE1B-D936-8ACD-889C-A17F43114EFD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9: BERT for text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59726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19D4332-937C-14D7-2146-7B0D995C6B34}"/>
              </a:ext>
            </a:extLst>
          </p:cNvPr>
          <p:cNvSpPr txBox="1">
            <a:spLocks/>
          </p:cNvSpPr>
          <p:nvPr/>
        </p:nvSpPr>
        <p:spPr>
          <a:xfrm>
            <a:off x="2555776" y="2708920"/>
            <a:ext cx="5256584" cy="9604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16600" b="1" dirty="0"/>
              <a:t>Q</a:t>
            </a:r>
            <a:r>
              <a:rPr lang="en-US" altLang="ko-KR" sz="9600" b="1" dirty="0"/>
              <a:t>&amp;</a:t>
            </a:r>
            <a:r>
              <a:rPr lang="en-US" altLang="ko-KR" sz="16600" b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500875422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/>
      <a:lstStyle>
        <a:defPPr algn="l">
          <a:defRPr sz="2000" b="1" dirty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테마1" id="{D9BDF30F-3B36-4CEA-A9C9-0D5C5C06D51F}" vid="{20C366B2-3576-4F75-B35B-B2813EC3E1EB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15169</TotalTime>
  <Words>445</Words>
  <Application>Microsoft Office PowerPoint</Application>
  <PresentationFormat>화면 슬라이드 쇼(4:3)</PresentationFormat>
  <Paragraphs>87</Paragraphs>
  <Slides>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Calibri</vt:lpstr>
      <vt:lpstr>테마1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821022795787</dc:creator>
  <cp:lastModifiedBy>KimKang-Min</cp:lastModifiedBy>
  <cp:revision>204</cp:revision>
  <dcterms:created xsi:type="dcterms:W3CDTF">2020-09-08T07:38:37Z</dcterms:created>
  <dcterms:modified xsi:type="dcterms:W3CDTF">2025-06-04T07:54:45Z</dcterms:modified>
</cp:coreProperties>
</file>