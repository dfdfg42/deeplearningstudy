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1"/>
  </p:notesMasterIdLst>
  <p:sldIdLst>
    <p:sldId id="427" r:id="rId2"/>
    <p:sldId id="673" r:id="rId3"/>
    <p:sldId id="724" r:id="rId4"/>
    <p:sldId id="733" r:id="rId5"/>
    <p:sldId id="734" r:id="rId6"/>
    <p:sldId id="728" r:id="rId7"/>
    <p:sldId id="729" r:id="rId8"/>
    <p:sldId id="730" r:id="rId9"/>
    <p:sldId id="732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A6FB30-3A08-4FC9-8614-B204193284F3}">
          <p14:sldIdLst>
            <p14:sldId id="427"/>
            <p14:sldId id="673"/>
            <p14:sldId id="724"/>
            <p14:sldId id="733"/>
            <p14:sldId id="734"/>
            <p14:sldId id="728"/>
            <p14:sldId id="729"/>
            <p14:sldId id="730"/>
            <p14:sldId id="7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A2D716-3B7E-6162-E4CC-82B445EBDFE8}" name="최 재영" initials="최재" userId="d992d4872b0f84d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F5050"/>
    <a:srgbClr val="4494FF"/>
    <a:srgbClr val="FFACF8"/>
    <a:srgbClr val="7E7E85"/>
    <a:srgbClr val="871A2B"/>
    <a:srgbClr val="008000"/>
    <a:srgbClr val="F1F1F1"/>
    <a:srgbClr val="C72F53"/>
    <a:srgbClr val="130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87" autoAdjust="0"/>
    <p:restoredTop sz="97416" autoAdjust="0"/>
  </p:normalViewPr>
  <p:slideViewPr>
    <p:cSldViewPr snapToGrid="0">
      <p:cViewPr varScale="1">
        <p:scale>
          <a:sx n="161" d="100"/>
          <a:sy n="161" d="100"/>
        </p:scale>
        <p:origin x="2300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4B731-A149-48E9-9598-63F39D6B8585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5238C-A8FC-4660-8003-59FEE05CC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6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ko-KR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12C1FE9-C985-48E7-9D27-2EA33FD38884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2618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5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505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96240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43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28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36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7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09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8046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97908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 AI School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0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23C48BE-5B83-4C1F-8FAA-AAAD084D4513}"/>
              </a:ext>
            </a:extLst>
          </p:cNvPr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1C1F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100"/>
              <a:t>Copyright ⓒ2023. Prof. Kang-Min Kim, The Catholic University of Korea. All rights reserved.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1251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5833E8-54F0-4BA2-9C0B-5572657F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3608" y="5367338"/>
            <a:ext cx="8008952" cy="804862"/>
          </a:xfrm>
        </p:spPr>
        <p:txBody>
          <a:bodyPr/>
          <a:lstStyle/>
          <a:p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  <a:p>
            <a:r>
              <a:rPr lang="en-US" altLang="ko-KR" sz="2400" b="1" dirty="0">
                <a:latin typeface="Calibri"/>
                <a:ea typeface="+mn-lt"/>
                <a:cs typeface="Calibri"/>
              </a:rPr>
              <a:t>SSL for Computer Vision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FFA9C6-FB54-407C-A282-92C582D2F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1" y="2422079"/>
            <a:ext cx="1858903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576BBA2-3E12-88F2-2136-E342F74E58B0}"/>
              </a:ext>
            </a:extLst>
          </p:cNvPr>
          <p:cNvSpPr txBox="1">
            <a:spLocks/>
          </p:cNvSpPr>
          <p:nvPr/>
        </p:nvSpPr>
        <p:spPr>
          <a:xfrm>
            <a:off x="2830045" y="2800885"/>
            <a:ext cx="5522668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딥러닝 </a:t>
            </a:r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(Deep Learning)</a:t>
            </a:r>
          </a:p>
        </p:txBody>
      </p:sp>
    </p:spTree>
    <p:extLst>
      <p:ext uri="{BB962C8B-B14F-4D97-AF65-F5344CB8AC3E}">
        <p14:creationId xmlns:p14="http://schemas.microsoft.com/office/powerpoint/2010/main" val="358392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 assignments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76A8BA3-24BE-3587-EE92-78FABD7EEAE6}"/>
              </a:ext>
            </a:extLst>
          </p:cNvPr>
          <p:cNvSpPr/>
          <p:nvPr/>
        </p:nvSpPr>
        <p:spPr>
          <a:xfrm>
            <a:off x="35496" y="969616"/>
            <a:ext cx="90730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Deep Learning Basic</a:t>
            </a:r>
            <a:r>
              <a:rPr lang="en-US" altLang="ko-KR" b="1" dirty="0"/>
              <a:t>	 		</a:t>
            </a:r>
            <a:r>
              <a:rPr lang="en-US" altLang="ko-KR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MLP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Object Recognition</a:t>
            </a:r>
            <a:r>
              <a:rPr lang="en-US" altLang="ko-KR" b="1" dirty="0"/>
              <a:t>			</a:t>
            </a:r>
            <a:r>
              <a:rPr lang="en-US" altLang="ko-KR" b="1" strike="sngStrike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ResNet</a:t>
            </a:r>
            <a:endParaRPr lang="en-US" altLang="ko-KR" b="1" strike="sngStrike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Face Recognition</a:t>
            </a:r>
            <a:r>
              <a:rPr lang="en-US" altLang="ko-KR" b="1" dirty="0"/>
              <a:t>			</a:t>
            </a:r>
            <a:r>
              <a:rPr lang="en-US" altLang="ko-KR" b="1" strike="sngStrike" dirty="0">
                <a:solidFill>
                  <a:srgbClr val="7E7E85"/>
                </a:solidFill>
              </a:rPr>
              <a:t>Free choice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NLU</a:t>
            </a:r>
            <a:r>
              <a:rPr lang="en-US" altLang="ko-KR" b="1" dirty="0"/>
              <a:t>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				</a:t>
            </a:r>
            <a:r>
              <a:rPr lang="en-US" altLang="ko-KR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CNN for Sentence Classification</a:t>
            </a:r>
            <a:endParaRPr lang="en-US" altLang="ko-KR" b="1" strike="sngStrike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Object Detection</a:t>
            </a:r>
            <a:r>
              <a:rPr lang="en-US" altLang="ko-KR" b="1" dirty="0"/>
              <a:t>			</a:t>
            </a:r>
            <a:r>
              <a:rPr lang="en-US" altLang="ko-KR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YOLO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Image Generation</a:t>
            </a:r>
            <a:r>
              <a:rPr lang="en-US" altLang="ko-KR" b="1" dirty="0"/>
              <a:t>			</a:t>
            </a:r>
            <a:r>
              <a:rPr lang="en-US" altLang="ko-KR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GAN, CGAN, DCGAN</a:t>
            </a:r>
            <a:endParaRPr lang="en-US" altLang="ko-KR" b="1" strike="sngStrike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NLG</a:t>
            </a:r>
            <a:r>
              <a:rPr lang="en-US" altLang="ko-KR" b="1" dirty="0"/>
              <a:t>					</a:t>
            </a:r>
            <a:r>
              <a:rPr lang="en-US" altLang="ko-KR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LSTM</a:t>
            </a:r>
            <a:endParaRPr lang="en-US" altLang="ko-KR" b="1" strike="sngStrike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Computer Vision		</a:t>
            </a:r>
            <a:r>
              <a:rPr lang="en-US" altLang="ko-KR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ViT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NLP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BERT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LLM	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ChatGPT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265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8: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47C5BE6-1E0A-1422-BDB3-CFE8B3187652}"/>
              </a:ext>
            </a:extLst>
          </p:cNvPr>
          <p:cNvCxnSpPr/>
          <p:nvPr/>
        </p:nvCxnSpPr>
        <p:spPr>
          <a:xfrm>
            <a:off x="7904702" y="3598623"/>
            <a:ext cx="0" cy="889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7331435-FAF6-A0CB-5508-53741D6E59B0}"/>
              </a:ext>
            </a:extLst>
          </p:cNvPr>
          <p:cNvSpPr txBox="1"/>
          <p:nvPr/>
        </p:nvSpPr>
        <p:spPr>
          <a:xfrm>
            <a:off x="7263233" y="4757272"/>
            <a:ext cx="1219436" cy="77079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400" dirty="0"/>
              <a:t>"Truck"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BDF98-8AC7-9292-8764-0791A05DF063}"/>
              </a:ext>
            </a:extLst>
          </p:cNvPr>
          <p:cNvSpPr txBox="1"/>
          <p:nvPr/>
        </p:nvSpPr>
        <p:spPr>
          <a:xfrm>
            <a:off x="7920570" y="3744719"/>
            <a:ext cx="1064221" cy="4786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altLang="ko-KR" sz="2400" dirty="0"/>
              <a:t>model</a:t>
            </a:r>
          </a:p>
        </p:txBody>
      </p:sp>
      <p:pic>
        <p:nvPicPr>
          <p:cNvPr id="6" name="Picture 2" descr="How to Develop a CNN From Scratch for CIFAR-10 Photo Classification">
            <a:extLst>
              <a:ext uri="{FF2B5EF4-FFF2-40B4-BE49-F238E27FC236}">
                <a16:creationId xmlns:a16="http://schemas.microsoft.com/office/drawing/2014/main" id="{14BB91AB-826A-E797-10D0-DD0CD1C8C1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81" t="11658" r="40032" b="64857"/>
          <a:stretch/>
        </p:blipFill>
        <p:spPr bwMode="auto">
          <a:xfrm flipH="1">
            <a:off x="6804244" y="1213247"/>
            <a:ext cx="2169152" cy="218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CCBE64-AF68-F9FC-A68C-1171B8644233}"/>
              </a:ext>
            </a:extLst>
          </p:cNvPr>
          <p:cNvSpPr txBox="1"/>
          <p:nvPr/>
        </p:nvSpPr>
        <p:spPr>
          <a:xfrm>
            <a:off x="139055" y="1238562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[Objective]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Your model should classify the images into 10 classes.</a:t>
            </a:r>
          </a:p>
          <a:p>
            <a:pPr>
              <a:spcBef>
                <a:spcPts val="500"/>
              </a:spcBef>
            </a:pPr>
            <a:endParaRPr lang="en-US" altLang="ko-KR" sz="1200" dirty="0"/>
          </a:p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[Requirements]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1. Train </a:t>
            </a:r>
            <a:r>
              <a:rPr lang="en-US" altLang="ko-KR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ViT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model using the CIFAR-10 dataset</a:t>
            </a:r>
            <a:b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   by changing various hyper-parameters.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   (Basic code is provided)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2. You should experiment with the settings stated in the evaluation report</a:t>
            </a:r>
            <a:b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    and report the result of each setting. 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3. You should attach the plot of the validation dataset accuracy plot. 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4. You should report the experimental results.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   (all kinds of additional experiments are recommended)</a:t>
            </a:r>
          </a:p>
        </p:txBody>
      </p:sp>
    </p:spTree>
    <p:extLst>
      <p:ext uri="{BB962C8B-B14F-4D97-AF65-F5344CB8AC3E}">
        <p14:creationId xmlns:p14="http://schemas.microsoft.com/office/powerpoint/2010/main" val="399038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8: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D598452-376B-AEA4-C635-F39FA09FE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95" y="863005"/>
            <a:ext cx="8266410" cy="4401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387053-4C5D-E88C-E2EF-506CCB30CE86}"/>
              </a:ext>
            </a:extLst>
          </p:cNvPr>
          <p:cNvSpPr txBox="1"/>
          <p:nvPr/>
        </p:nvSpPr>
        <p:spPr>
          <a:xfrm>
            <a:off x="190256" y="5309806"/>
            <a:ext cx="8763489" cy="1015663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1" lang="en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retrained on ImageNet-21k with 14 million images at 224x224 resolution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Processes images as sequences of 16x16 patches with positional embeddings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One can utilize [CLS] token for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10012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5D6016E-441B-8761-764F-255996680160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8: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F0EB83-A553-DEDE-630C-12A5E543F91D}"/>
              </a:ext>
            </a:extLst>
          </p:cNvPr>
          <p:cNvSpPr/>
          <p:nvPr/>
        </p:nvSpPr>
        <p:spPr>
          <a:xfrm>
            <a:off x="188640" y="692696"/>
            <a:ext cx="8766720" cy="24929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from transformers import </a:t>
            </a:r>
            <a:r>
              <a:rPr lang="en" altLang="ko-KR" sz="1200" dirty="0" err="1">
                <a:solidFill>
                  <a:srgbClr val="6897BB"/>
                </a:solidFill>
                <a:latin typeface="Consolas" panose="020B0609020204030204" pitchFamily="49" charset="0"/>
              </a:rPr>
              <a:t>ViTModel</a:t>
            </a:r>
            <a:endParaRPr lang="en" altLang="ko-KR" sz="1200" dirty="0">
              <a:solidFill>
                <a:srgbClr val="6897BB"/>
              </a:solidFill>
              <a:latin typeface="Consolas" panose="020B0609020204030204" pitchFamily="49" charset="0"/>
            </a:endParaRPr>
          </a:p>
          <a:p>
            <a:endParaRPr lang="en" altLang="ko-KR" sz="1200" dirty="0">
              <a:solidFill>
                <a:srgbClr val="6897BB"/>
              </a:solidFill>
              <a:latin typeface="Consolas" panose="020B0609020204030204" pitchFamily="49" charset="0"/>
            </a:endParaRPr>
          </a:p>
          <a:p>
            <a:r>
              <a:rPr lang="en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class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ViT_model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nn.Module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def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__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__(self, 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model_name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num_classes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10):</a:t>
            </a:r>
          </a:p>
          <a:p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   super().__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self.vit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" altLang="ko-KR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ViTModel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" altLang="ko-KR" sz="1200" dirty="0" err="1">
                <a:latin typeface="Consolas" panose="020B0609020204030204" pitchFamily="49" charset="0"/>
              </a:rPr>
              <a:t>from_pretrained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model_name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self.classifier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nn.Linear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self.vit.config.hidden_size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num_classes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def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forward(self, x):</a:t>
            </a:r>
          </a:p>
          <a:p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   outputs = 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self.vit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(**x)</a:t>
            </a:r>
          </a:p>
          <a:p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last_hidden_states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outputs.last_hidden_state</a:t>
            </a:r>
            <a:b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   x = 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self.classifier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last_hidden_states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[:, </a:t>
            </a:r>
            <a:r>
              <a:rPr lang="en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x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4EAEBF-7967-7BE6-2E27-FD1A639F52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8" t="8975" r="32486"/>
          <a:stretch>
            <a:fillRect/>
          </a:stretch>
        </p:blipFill>
        <p:spPr>
          <a:xfrm>
            <a:off x="450207" y="3558890"/>
            <a:ext cx="2774373" cy="2033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8D2B34-CF39-D901-EB1E-46B32F365BBA}"/>
              </a:ext>
            </a:extLst>
          </p:cNvPr>
          <p:cNvSpPr txBox="1"/>
          <p:nvPr/>
        </p:nvSpPr>
        <p:spPr>
          <a:xfrm>
            <a:off x="1228092" y="5592044"/>
            <a:ext cx="1218603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ViTModel</a:t>
            </a:r>
            <a:endParaRPr kumimoji="1" lang="ko-KR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EA97DA1-3CC9-D3F9-1B1C-2BE64A43B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489" y="3856805"/>
            <a:ext cx="4365871" cy="14373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05E4FE-27EC-0C5D-C636-3DC90E6DB3E3}"/>
              </a:ext>
            </a:extLst>
          </p:cNvPr>
          <p:cNvSpPr txBox="1"/>
          <p:nvPr/>
        </p:nvSpPr>
        <p:spPr>
          <a:xfrm>
            <a:off x="55048" y="6365359"/>
            <a:ext cx="7614072" cy="27699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[1] https://</a:t>
            </a:r>
            <a:r>
              <a:rPr kumimoji="1" lang="en" altLang="ko-K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github.com</a:t>
            </a:r>
            <a:r>
              <a:rPr kumimoji="1" lang="en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en" altLang="ko-K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huggingface</a:t>
            </a:r>
            <a:r>
              <a:rPr kumimoji="1" lang="en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/transformers/blob/v4.52.3/</a:t>
            </a:r>
            <a:r>
              <a:rPr kumimoji="1" lang="en" altLang="ko-K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kumimoji="1" lang="en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/transformers/models/vit/modeling_vit.py#L482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C3DA97-D265-C438-14C4-24BA2AA8D01C}"/>
              </a:ext>
            </a:extLst>
          </p:cNvPr>
          <p:cNvSpPr txBox="1"/>
          <p:nvPr/>
        </p:nvSpPr>
        <p:spPr>
          <a:xfrm>
            <a:off x="5339475" y="5290249"/>
            <a:ext cx="2865898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...</a:t>
            </a:r>
            <a:br>
              <a:rPr kumimoji="1"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(Can be found in link 1)</a:t>
            </a:r>
            <a:endParaRPr kumimoji="1"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5FEE75CF-6A66-DF15-F150-1859362BDBF4}"/>
              </a:ext>
            </a:extLst>
          </p:cNvPr>
          <p:cNvSpPr/>
          <p:nvPr/>
        </p:nvSpPr>
        <p:spPr>
          <a:xfrm>
            <a:off x="3507068" y="4151273"/>
            <a:ext cx="494044" cy="88311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9268CCB-4E28-579D-319F-C418AAA73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8860" y="3671818"/>
            <a:ext cx="5969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06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A47D2DD-E9A9-3153-05D0-D48971964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11" y="2016410"/>
            <a:ext cx="7772400" cy="3717528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F3622F-FA0B-4696-0D80-69F61AE2E7ED}"/>
              </a:ext>
            </a:extLst>
          </p:cNvPr>
          <p:cNvSpPr txBox="1"/>
          <p:nvPr/>
        </p:nvSpPr>
        <p:spPr>
          <a:xfrm>
            <a:off x="107504" y="894350"/>
            <a:ext cx="3066218" cy="441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/>
              <a:t>[Evaluation report]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B21AA4D-2C24-113F-0852-4B4ECEEEE9C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8: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0AE71A-B04D-26A3-E270-656D9E0626B2}"/>
              </a:ext>
            </a:extLst>
          </p:cNvPr>
          <p:cNvSpPr/>
          <p:nvPr/>
        </p:nvSpPr>
        <p:spPr>
          <a:xfrm>
            <a:off x="7304908" y="2263915"/>
            <a:ext cx="1222303" cy="651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07E33A2-0D2C-33C4-F531-25CCA8FAFB0B}"/>
              </a:ext>
            </a:extLst>
          </p:cNvPr>
          <p:cNvSpPr/>
          <p:nvPr/>
        </p:nvSpPr>
        <p:spPr>
          <a:xfrm>
            <a:off x="792911" y="3019782"/>
            <a:ext cx="7734300" cy="18486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E868C1-BC6A-2D37-279A-EF27E1203DE6}"/>
              </a:ext>
            </a:extLst>
          </p:cNvPr>
          <p:cNvSpPr/>
          <p:nvPr/>
        </p:nvSpPr>
        <p:spPr>
          <a:xfrm>
            <a:off x="792911" y="4916762"/>
            <a:ext cx="7734300" cy="817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82DCE46-FA9A-5433-706D-D14F30ADCE32}"/>
              </a:ext>
            </a:extLst>
          </p:cNvPr>
          <p:cNvGrpSpPr/>
          <p:nvPr/>
        </p:nvGrpSpPr>
        <p:grpSpPr>
          <a:xfrm>
            <a:off x="6528479" y="3682689"/>
            <a:ext cx="1910897" cy="941543"/>
            <a:chOff x="5931463" y="3437638"/>
            <a:chExt cx="1910897" cy="941543"/>
          </a:xfrm>
        </p:grpSpPr>
        <p:pic>
          <p:nvPicPr>
            <p:cNvPr id="18" name="그림 17" descr="포유류, 개, 보는, 서있는이(가) 표시된 사진&#10;&#10;자동 생성된 설명">
              <a:extLst>
                <a:ext uri="{FF2B5EF4-FFF2-40B4-BE49-F238E27FC236}">
                  <a16:creationId xmlns:a16="http://schemas.microsoft.com/office/drawing/2014/main" id="{DFD4F7ED-5C46-193E-9DF1-A33A68EA1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0327" y="3437638"/>
              <a:ext cx="869553" cy="58060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C0A29D0-3C75-A9A7-64DE-8AF2392DDC3E}"/>
                </a:ext>
              </a:extLst>
            </p:cNvPr>
            <p:cNvSpPr txBox="1"/>
            <p:nvPr/>
          </p:nvSpPr>
          <p:spPr>
            <a:xfrm>
              <a:off x="5931463" y="4018247"/>
              <a:ext cx="908417" cy="36093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342900" latinLnBrk="0"/>
              <a:r>
                <a:rPr lang="en-US" altLang="ko-KR" sz="1100" b="1" dirty="0">
                  <a:latin typeface="Calibri" panose="020F0502020204030204"/>
                  <a:ea typeface="맑은 고딕" panose="020B0503020000020004" pitchFamily="50" charset="-127"/>
                </a:rPr>
                <a:t>dog</a:t>
              </a:r>
            </a:p>
          </p:txBody>
        </p:sp>
        <p:pic>
          <p:nvPicPr>
            <p:cNvPr id="20" name="그림 19" descr="자동차, 도로, 실외, 잔디이(가) 표시된 사진&#10;&#10;자동 생성된 설명">
              <a:extLst>
                <a:ext uri="{FF2B5EF4-FFF2-40B4-BE49-F238E27FC236}">
                  <a16:creationId xmlns:a16="http://schemas.microsoft.com/office/drawing/2014/main" id="{D3567F24-523A-C34B-D3CF-F21EFA172D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328"/>
            <a:stretch/>
          </p:blipFill>
          <p:spPr>
            <a:xfrm>
              <a:off x="6885337" y="3437638"/>
              <a:ext cx="909681" cy="58450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A1A62C-DE37-6B8B-0E85-5882887F8F1C}"/>
                </a:ext>
              </a:extLst>
            </p:cNvPr>
            <p:cNvSpPr txBox="1"/>
            <p:nvPr/>
          </p:nvSpPr>
          <p:spPr>
            <a:xfrm>
              <a:off x="6933943" y="4018246"/>
              <a:ext cx="908417" cy="36093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342900" latinLnBrk="0"/>
              <a:r>
                <a:rPr lang="en-US" altLang="ko-KR" sz="1100" b="1" dirty="0">
                  <a:latin typeface="Calibri" panose="020F0502020204030204"/>
                  <a:ea typeface="맑은 고딕" panose="020B0503020000020004" pitchFamily="50" charset="-127"/>
                </a:rPr>
                <a:t>car</a:t>
              </a: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F3304627-C4FA-B547-42CA-EADB29C524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94049"/>
          <a:stretch>
            <a:fillRect/>
          </a:stretch>
        </p:blipFill>
        <p:spPr>
          <a:xfrm>
            <a:off x="792911" y="2016408"/>
            <a:ext cx="7734300" cy="22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FA659BE0-2983-01F7-5F2F-F56BD663A90E}"/>
              </a:ext>
            </a:extLst>
          </p:cNvPr>
          <p:cNvSpPr txBox="1">
            <a:spLocks/>
          </p:cNvSpPr>
          <p:nvPr/>
        </p:nvSpPr>
        <p:spPr>
          <a:xfrm>
            <a:off x="179512" y="1556792"/>
            <a:ext cx="10515600" cy="4351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/>
              <a:t>Evaluation Criteria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28C8FD1-F166-F7C9-1BFB-9D248B651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19472"/>
              </p:ext>
            </p:extLst>
          </p:nvPr>
        </p:nvGraphicFramePr>
        <p:xfrm>
          <a:off x="127956" y="2348880"/>
          <a:ext cx="8888088" cy="2729172"/>
        </p:xfrm>
        <a:graphic>
          <a:graphicData uri="http://schemas.openxmlformats.org/drawingml/2006/table">
            <a:tbl>
              <a:tblPr/>
              <a:tblGrid>
                <a:gridCol w="2316117">
                  <a:extLst>
                    <a:ext uri="{9D8B030D-6E8A-4147-A177-3AD203B41FA5}">
                      <a16:colId xmlns:a16="http://schemas.microsoft.com/office/drawing/2014/main" val="4207470608"/>
                    </a:ext>
                  </a:extLst>
                </a:gridCol>
                <a:gridCol w="6571971">
                  <a:extLst>
                    <a:ext uri="{9D8B030D-6E8A-4147-A177-3AD203B41FA5}">
                      <a16:colId xmlns:a16="http://schemas.microsoft.com/office/drawing/2014/main" val="2788689799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Simplicity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concisely did you write the comments? </a:t>
                      </a: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302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Performance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well did the results of the code perform? </a:t>
                      </a: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 98.5%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달성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사진 추론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85813"/>
                  </a:ext>
                </a:extLst>
              </a:tr>
              <a:tr h="299428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Brevity and Clarity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concisely and clearly did you explain the results? </a:t>
                      </a: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28080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D5A4F56-CFF6-E1C5-B517-C55D800A1569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8: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545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ABC077-2CE7-5C4E-620A-1B58E906093E}"/>
              </a:ext>
            </a:extLst>
          </p:cNvPr>
          <p:cNvSpPr txBox="1">
            <a:spLocks/>
          </p:cNvSpPr>
          <p:nvPr/>
        </p:nvSpPr>
        <p:spPr>
          <a:xfrm>
            <a:off x="180000" y="1340768"/>
            <a:ext cx="8964488" cy="50912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+mj-ea"/>
                <a:ea typeface="+mj-ea"/>
              </a:rPr>
              <a:t>Due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to : </a:t>
            </a:r>
            <a:r>
              <a:rPr lang="en-US" altLang="ko-KR" sz="2400" b="1" dirty="0">
                <a:latin typeface="+mj-ea"/>
                <a:ea typeface="+mj-ea"/>
              </a:rPr>
              <a:t>~ 6/13 (Fri) 23:59:59</a:t>
            </a: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Submission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: Online submission on </a:t>
            </a:r>
            <a:r>
              <a:rPr lang="en-US" altLang="ko-KR" sz="2400" dirty="0" err="1">
                <a:latin typeface="+mj-ea"/>
                <a:ea typeface="+mj-ea"/>
              </a:rPr>
              <a:t>cybercampus</a:t>
            </a:r>
            <a:endParaRPr lang="en-US" altLang="ko-KR" sz="2400" dirty="0">
              <a:latin typeface="+mj-ea"/>
              <a:ea typeface="+mj-ea"/>
            </a:endParaRP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Your submission should include</a:t>
            </a:r>
          </a:p>
          <a:p>
            <a:pPr marL="914400" lvl="1" indent="-457200">
              <a:buAutoNum type="arabicParenR"/>
            </a:pPr>
            <a:r>
              <a:rPr lang="en-US" altLang="ko-KR" sz="2400" dirty="0"/>
              <a:t>The whole code of your implementation</a:t>
            </a:r>
            <a:endParaRPr lang="en-US" altLang="ko-KR" sz="2800" dirty="0">
              <a:latin typeface="+mj-ea"/>
              <a:ea typeface="+mj-ea"/>
            </a:endParaRPr>
          </a:p>
          <a:p>
            <a:pPr marL="914400" lvl="1" indent="-457200">
              <a:buAutoNum type="arabicParenR"/>
            </a:pPr>
            <a:r>
              <a:rPr lang="en-US" altLang="ko-KR" sz="2400" dirty="0"/>
              <a:t>The evaluation report</a:t>
            </a:r>
          </a:p>
          <a:p>
            <a:pPr marL="0" indent="0">
              <a:buNone/>
            </a:pP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rgbClr val="FF0000"/>
                </a:solidFill>
                <a:latin typeface="+mj-ea"/>
                <a:ea typeface="+mj-ea"/>
              </a:rPr>
              <a:t>You must implement the components yourself!</a:t>
            </a:r>
          </a:p>
          <a:p>
            <a:r>
              <a:rPr lang="en-US" altLang="ko-KR" sz="2400" dirty="0">
                <a:latin typeface="+mj-ea"/>
                <a:ea typeface="+mj-ea"/>
              </a:rPr>
              <a:t>File name : StudentID_Name_HW8.zip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929603-74F4-7738-E084-390E3D0B68A4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 8: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ViT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2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19D4332-937C-14D7-2146-7B0D995C6B34}"/>
              </a:ext>
            </a:extLst>
          </p:cNvPr>
          <p:cNvSpPr txBox="1">
            <a:spLocks/>
          </p:cNvSpPr>
          <p:nvPr/>
        </p:nvSpPr>
        <p:spPr>
          <a:xfrm>
            <a:off x="2555776" y="2708920"/>
            <a:ext cx="5256584" cy="960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6600" b="1" dirty="0"/>
              <a:t>Q</a:t>
            </a:r>
            <a:r>
              <a:rPr lang="en-US" altLang="ko-KR" sz="9600" b="1" dirty="0"/>
              <a:t>&amp;</a:t>
            </a:r>
            <a:r>
              <a:rPr lang="en-US" altLang="ko-KR" sz="166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00875422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algn="l">
          <a:defRPr sz="2000" b="1"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1" id="{D9BDF30F-3B36-4CEA-A9C9-0D5C5C06D51F}" vid="{20C366B2-3576-4F75-B35B-B2813EC3E1E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13844</TotalTime>
  <Words>529</Words>
  <Application>Microsoft Office PowerPoint</Application>
  <PresentationFormat>화면 슬라이드 쇼(4:3)</PresentationFormat>
  <Paragraphs>79</Paragraphs>
  <Slides>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Consolas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821022795787</dc:creator>
  <cp:lastModifiedBy>KimKang-Min</cp:lastModifiedBy>
  <cp:revision>162</cp:revision>
  <dcterms:created xsi:type="dcterms:W3CDTF">2020-09-08T07:38:37Z</dcterms:created>
  <dcterms:modified xsi:type="dcterms:W3CDTF">2025-06-05T02:18:29Z</dcterms:modified>
</cp:coreProperties>
</file>