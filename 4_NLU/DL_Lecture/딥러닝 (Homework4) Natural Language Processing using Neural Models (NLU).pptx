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8"/>
  </p:notesMasterIdLst>
  <p:sldIdLst>
    <p:sldId id="427" r:id="rId2"/>
    <p:sldId id="673" r:id="rId3"/>
    <p:sldId id="956" r:id="rId4"/>
    <p:sldId id="957" r:id="rId5"/>
    <p:sldId id="958" r:id="rId6"/>
    <p:sldId id="959" r:id="rId7"/>
    <p:sldId id="960" r:id="rId8"/>
    <p:sldId id="961" r:id="rId9"/>
    <p:sldId id="962" r:id="rId10"/>
    <p:sldId id="949" r:id="rId11"/>
    <p:sldId id="971" r:id="rId12"/>
    <p:sldId id="951" r:id="rId13"/>
    <p:sldId id="955" r:id="rId14"/>
    <p:sldId id="963" r:id="rId15"/>
    <p:sldId id="964" r:id="rId16"/>
    <p:sldId id="965" r:id="rId17"/>
    <p:sldId id="966" r:id="rId18"/>
    <p:sldId id="972" r:id="rId19"/>
    <p:sldId id="967" r:id="rId20"/>
    <p:sldId id="968" r:id="rId21"/>
    <p:sldId id="969" r:id="rId22"/>
    <p:sldId id="970" r:id="rId23"/>
    <p:sldId id="953" r:id="rId24"/>
    <p:sldId id="954" r:id="rId25"/>
    <p:sldId id="730" r:id="rId26"/>
    <p:sldId id="732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A6FB30-3A08-4FC9-8614-B204193284F3}">
          <p14:sldIdLst>
            <p14:sldId id="427"/>
            <p14:sldId id="673"/>
            <p14:sldId id="956"/>
            <p14:sldId id="957"/>
            <p14:sldId id="958"/>
            <p14:sldId id="959"/>
            <p14:sldId id="960"/>
            <p14:sldId id="961"/>
            <p14:sldId id="962"/>
            <p14:sldId id="949"/>
            <p14:sldId id="971"/>
            <p14:sldId id="951"/>
            <p14:sldId id="955"/>
            <p14:sldId id="963"/>
            <p14:sldId id="964"/>
            <p14:sldId id="965"/>
            <p14:sldId id="966"/>
            <p14:sldId id="972"/>
            <p14:sldId id="967"/>
            <p14:sldId id="968"/>
            <p14:sldId id="969"/>
            <p14:sldId id="970"/>
            <p14:sldId id="953"/>
            <p14:sldId id="954"/>
            <p14:sldId id="730"/>
            <p14:sldId id="7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A2D716-3B7E-6162-E4CC-82B445EBDFE8}" name="최 재영" initials="최재" userId="d992d4872b0f84d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F5050"/>
    <a:srgbClr val="4494FF"/>
    <a:srgbClr val="FFACF8"/>
    <a:srgbClr val="7E7E85"/>
    <a:srgbClr val="871A2B"/>
    <a:srgbClr val="008000"/>
    <a:srgbClr val="F1F1F1"/>
    <a:srgbClr val="C72F53"/>
    <a:srgbClr val="130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1" autoAdjust="0"/>
    <p:restoredTop sz="97416" autoAdjust="0"/>
  </p:normalViewPr>
  <p:slideViewPr>
    <p:cSldViewPr snapToGrid="0">
      <p:cViewPr varScale="1">
        <p:scale>
          <a:sx n="161" d="100"/>
          <a:sy n="161" d="100"/>
        </p:scale>
        <p:origin x="1912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B731-A149-48E9-9598-63F39D6B8585}" type="datetimeFigureOut">
              <a:rPr lang="ko-KR" altLang="en-US" smtClean="0"/>
              <a:t>2025-04-15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5238C-A8FC-4660-8003-59FEE05CC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ko-KR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12C1FE9-C985-48E7-9D27-2EA33FD38884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261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5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68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524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134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48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145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925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385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042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502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657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71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271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311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472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709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490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660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9319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881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33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847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017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50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9624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3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8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36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7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0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046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7908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 AI School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0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23C48BE-5B83-4C1F-8FAA-AAAD084D4513}"/>
              </a:ext>
            </a:extLst>
          </p:cNvPr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1C1F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 dirty="0"/>
              <a:t>Copyright ⓒ2025. Prof. Kang-Min Kim, The Catholic University of Korea. All rights reserved.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251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5833E8-54F0-4BA2-9C0B-5572657F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608" y="5367338"/>
            <a:ext cx="8008952" cy="804862"/>
          </a:xfrm>
        </p:spPr>
        <p:txBody>
          <a:bodyPr/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  <a:p>
            <a:r>
              <a:rPr lang="en-US" altLang="ko-KR" sz="2400" b="1" dirty="0">
                <a:latin typeface="Calibri"/>
                <a:ea typeface="+mn-lt"/>
                <a:cs typeface="Calibri"/>
              </a:rPr>
              <a:t>Natural Language Processing using Neural Models (NLU)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FA9C6-FB54-407C-A282-92C582D2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1" y="2422079"/>
            <a:ext cx="185890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76BBA2-3E12-88F2-2136-E342F74E58B0}"/>
              </a:ext>
            </a:extLst>
          </p:cNvPr>
          <p:cNvSpPr txBox="1">
            <a:spLocks/>
          </p:cNvSpPr>
          <p:nvPr/>
        </p:nvSpPr>
        <p:spPr>
          <a:xfrm>
            <a:off x="2830045" y="2800885"/>
            <a:ext cx="5522668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딥러닝 </a:t>
            </a:r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(Deep Learning)</a:t>
            </a:r>
          </a:p>
        </p:txBody>
      </p:sp>
    </p:spTree>
    <p:extLst>
      <p:ext uri="{BB962C8B-B14F-4D97-AF65-F5344CB8AC3E}">
        <p14:creationId xmlns:p14="http://schemas.microsoft.com/office/powerpoint/2010/main" val="358392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assignments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0999CA0-BB3F-E3F7-79FF-39C876DB9064}"/>
              </a:ext>
            </a:extLst>
          </p:cNvPr>
          <p:cNvSpPr/>
          <p:nvPr/>
        </p:nvSpPr>
        <p:spPr>
          <a:xfrm>
            <a:off x="35496" y="969616"/>
            <a:ext cx="90730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Deep Learning Basic</a:t>
            </a:r>
            <a:r>
              <a:rPr lang="en-US" altLang="ko-KR" b="1" dirty="0"/>
              <a:t>	 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MLP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Recognition</a:t>
            </a:r>
            <a:r>
              <a:rPr lang="en-US" altLang="ko-KR" b="1" dirty="0"/>
              <a:t>			</a:t>
            </a:r>
            <a:r>
              <a:rPr lang="en-US" altLang="ko-KR" sz="1800" b="1" strike="sngStrike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ResNet</a:t>
            </a:r>
            <a:endParaRPr lang="en-US" altLang="ko-KR" sz="1800" b="1" strike="sngStrike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Face Recognition</a:t>
            </a:r>
            <a:r>
              <a:rPr lang="en-US" altLang="ko-KR" b="1" dirty="0"/>
              <a:t>			</a:t>
            </a:r>
            <a:r>
              <a:rPr lang="en-US" altLang="ko-KR" b="1" strike="sngStrike" dirty="0">
                <a:solidFill>
                  <a:srgbClr val="7E7E85"/>
                </a:solidFill>
              </a:rPr>
              <a:t>Free choice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NLU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		CNN for Sentence Classification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Object Detection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YOLO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Image Generation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GAN, CGAN, DCGAN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NLG		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LSTM, Transformer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Computer Vision		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ViT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NLP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BERT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LLM	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265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2288D6D-9877-EC4C-B324-7F96453A8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63" y="1989277"/>
            <a:ext cx="8677275" cy="3562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1ADAE6-165C-F9D9-222B-F8E252365AF3}"/>
              </a:ext>
            </a:extLst>
          </p:cNvPr>
          <p:cNvSpPr txBox="1"/>
          <p:nvPr/>
        </p:nvSpPr>
        <p:spPr>
          <a:xfrm>
            <a:off x="558155" y="1677570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Word embeddings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8E6EB-27DE-6704-1178-A56ADB95BC31}"/>
              </a:ext>
            </a:extLst>
          </p:cNvPr>
          <p:cNvSpPr txBox="1"/>
          <p:nvPr/>
        </p:nvSpPr>
        <p:spPr>
          <a:xfrm>
            <a:off x="2905125" y="2028818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2D8243-4984-9A80-548A-BF9182B1C772}"/>
              </a:ext>
            </a:extLst>
          </p:cNvPr>
          <p:cNvSpPr txBox="1"/>
          <p:nvPr/>
        </p:nvSpPr>
        <p:spPr>
          <a:xfrm>
            <a:off x="5172075" y="2730948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Max-pooling layer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883D840-02AD-45DF-D14D-0D3CA6CF1211}"/>
              </a:ext>
            </a:extLst>
          </p:cNvPr>
          <p:cNvCxnSpPr>
            <a:cxnSpLocks/>
          </p:cNvCxnSpPr>
          <p:nvPr/>
        </p:nvCxnSpPr>
        <p:spPr>
          <a:xfrm flipH="1" flipV="1">
            <a:off x="6601838" y="2139507"/>
            <a:ext cx="1894462" cy="12894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348547-CDB5-B9A4-B6DF-842D98C78E5B}"/>
              </a:ext>
            </a:extLst>
          </p:cNvPr>
          <p:cNvSpPr txBox="1"/>
          <p:nvPr/>
        </p:nvSpPr>
        <p:spPr>
          <a:xfrm>
            <a:off x="7041357" y="2302229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Fully 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connected 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10DA92-46B1-097A-776C-F9D5CF4606E5}"/>
              </a:ext>
            </a:extLst>
          </p:cNvPr>
          <p:cNvSpPr txBox="1"/>
          <p:nvPr/>
        </p:nvSpPr>
        <p:spPr>
          <a:xfrm>
            <a:off x="5172075" y="1772012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[0.3, 0.7]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DE2AB52-FF13-B6A4-BF5C-292399EB3C29}"/>
              </a:ext>
            </a:extLst>
          </p:cNvPr>
          <p:cNvCxnSpPr>
            <a:cxnSpLocks/>
          </p:cNvCxnSpPr>
          <p:nvPr/>
        </p:nvCxnSpPr>
        <p:spPr>
          <a:xfrm>
            <a:off x="6995800" y="1988465"/>
            <a:ext cx="423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30E519-C030-EF25-3689-A6AC8E65E35D}"/>
              </a:ext>
            </a:extLst>
          </p:cNvPr>
          <p:cNvSpPr txBox="1"/>
          <p:nvPr/>
        </p:nvSpPr>
        <p:spPr>
          <a:xfrm>
            <a:off x="7418800" y="1792432"/>
            <a:ext cx="1108953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Negative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506F926-C771-7A6A-E551-E90E1B81E1C4}"/>
              </a:ext>
            </a:extLst>
          </p:cNvPr>
          <p:cNvCxnSpPr>
            <a:cxnSpLocks/>
          </p:cNvCxnSpPr>
          <p:nvPr/>
        </p:nvCxnSpPr>
        <p:spPr>
          <a:xfrm flipH="1" flipV="1">
            <a:off x="5719864" y="1422408"/>
            <a:ext cx="508402" cy="407031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D77C502-B0AC-67D9-5A1E-FC9D071A750D}"/>
              </a:ext>
            </a:extLst>
          </p:cNvPr>
          <p:cNvCxnSpPr>
            <a:cxnSpLocks/>
          </p:cNvCxnSpPr>
          <p:nvPr/>
        </p:nvCxnSpPr>
        <p:spPr>
          <a:xfrm flipV="1">
            <a:off x="6691448" y="1421596"/>
            <a:ext cx="515852" cy="407843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FEE67B4-CE5F-0520-8E40-643118D9EC96}"/>
              </a:ext>
            </a:extLst>
          </p:cNvPr>
          <p:cNvSpPr txBox="1"/>
          <p:nvPr/>
        </p:nvSpPr>
        <p:spPr>
          <a:xfrm>
            <a:off x="4649820" y="721374"/>
            <a:ext cx="1523951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Positive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4E68CB-7D1E-6EC7-C509-7C09A11C3D4F}"/>
              </a:ext>
            </a:extLst>
          </p:cNvPr>
          <p:cNvSpPr txBox="1"/>
          <p:nvPr/>
        </p:nvSpPr>
        <p:spPr>
          <a:xfrm>
            <a:off x="6859774" y="719595"/>
            <a:ext cx="1523951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Negative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386029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24BE4D-BF13-6C89-410C-A9F96371EC1B}"/>
              </a:ext>
            </a:extLst>
          </p:cNvPr>
          <p:cNvGrpSpPr/>
          <p:nvPr/>
        </p:nvGrpSpPr>
        <p:grpSpPr>
          <a:xfrm>
            <a:off x="233363" y="931783"/>
            <a:ext cx="9393089" cy="3874057"/>
            <a:chOff x="233363" y="1106881"/>
            <a:chExt cx="9393089" cy="387405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2288D6D-9877-EC4C-B324-7F96453A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363" y="1418588"/>
              <a:ext cx="8677275" cy="356235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1ADAE6-165C-F9D9-222B-F8E252365AF3}"/>
                </a:ext>
              </a:extLst>
            </p:cNvPr>
            <p:cNvSpPr txBox="1"/>
            <p:nvPr/>
          </p:nvSpPr>
          <p:spPr>
            <a:xfrm>
              <a:off x="558155" y="1106881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Word embeddings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D8E6EB-27DE-6704-1178-A56ADB95BC31}"/>
                </a:ext>
              </a:extLst>
            </p:cNvPr>
            <p:cNvSpPr txBox="1"/>
            <p:nvPr/>
          </p:nvSpPr>
          <p:spPr>
            <a:xfrm>
              <a:off x="2905125" y="145812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Convolution layer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2D8243-4984-9A80-548A-BF9182B1C772}"/>
                </a:ext>
              </a:extLst>
            </p:cNvPr>
            <p:cNvSpPr txBox="1"/>
            <p:nvPr/>
          </p:nvSpPr>
          <p:spPr>
            <a:xfrm>
              <a:off x="5172075" y="216025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Max-pooling layer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348547-CDB5-B9A4-B6DF-842D98C78E5B}"/>
                </a:ext>
              </a:extLst>
            </p:cNvPr>
            <p:cNvSpPr txBox="1"/>
            <p:nvPr/>
          </p:nvSpPr>
          <p:spPr>
            <a:xfrm>
              <a:off x="7041357" y="1731540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Fully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connected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layer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69603CC-6841-6DF8-5A5B-C50874D30EAB}"/>
              </a:ext>
            </a:extLst>
          </p:cNvPr>
          <p:cNvSpPr txBox="1"/>
          <p:nvPr/>
        </p:nvSpPr>
        <p:spPr>
          <a:xfrm>
            <a:off x="276696" y="4805840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[n, k] (k=300)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B18852-0B2C-ED7F-939F-2519309801E4}"/>
              </a:ext>
            </a:extLst>
          </p:cNvPr>
          <p:cNvSpPr/>
          <p:nvPr/>
        </p:nvSpPr>
        <p:spPr>
          <a:xfrm>
            <a:off x="233362" y="931783"/>
            <a:ext cx="2671763" cy="3795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14CF3-84EF-BC56-6FD0-2B02D70C9724}"/>
              </a:ext>
            </a:extLst>
          </p:cNvPr>
          <p:cNvSpPr txBox="1"/>
          <p:nvPr/>
        </p:nvSpPr>
        <p:spPr>
          <a:xfrm>
            <a:off x="3143250" y="4805840"/>
            <a:ext cx="5216052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&lt;Word embeddings&gt;</a:t>
            </a:r>
          </a:p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Used embeddings: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word2vec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, pre-trained on Google News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Mikolov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et al., 2013)</a:t>
            </a:r>
          </a:p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Embedding size = 300</a:t>
            </a:r>
          </a:p>
        </p:txBody>
      </p:sp>
    </p:spTree>
    <p:extLst>
      <p:ext uri="{BB962C8B-B14F-4D97-AF65-F5344CB8AC3E}">
        <p14:creationId xmlns:p14="http://schemas.microsoft.com/office/powerpoint/2010/main" val="169153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24BE4D-BF13-6C89-410C-A9F96371EC1B}"/>
              </a:ext>
            </a:extLst>
          </p:cNvPr>
          <p:cNvGrpSpPr/>
          <p:nvPr/>
        </p:nvGrpSpPr>
        <p:grpSpPr>
          <a:xfrm>
            <a:off x="233363" y="931783"/>
            <a:ext cx="9393089" cy="3874057"/>
            <a:chOff x="233363" y="1106881"/>
            <a:chExt cx="9393089" cy="387405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2288D6D-9877-EC4C-B324-7F96453A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363" y="1418588"/>
              <a:ext cx="8677275" cy="356235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1ADAE6-165C-F9D9-222B-F8E252365AF3}"/>
                </a:ext>
              </a:extLst>
            </p:cNvPr>
            <p:cNvSpPr txBox="1"/>
            <p:nvPr/>
          </p:nvSpPr>
          <p:spPr>
            <a:xfrm>
              <a:off x="558155" y="1106881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Word embeddings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D8E6EB-27DE-6704-1178-A56ADB95BC31}"/>
                </a:ext>
              </a:extLst>
            </p:cNvPr>
            <p:cNvSpPr txBox="1"/>
            <p:nvPr/>
          </p:nvSpPr>
          <p:spPr>
            <a:xfrm>
              <a:off x="2905125" y="145812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Convolution layer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2D8243-4984-9A80-548A-BF9182B1C772}"/>
                </a:ext>
              </a:extLst>
            </p:cNvPr>
            <p:cNvSpPr txBox="1"/>
            <p:nvPr/>
          </p:nvSpPr>
          <p:spPr>
            <a:xfrm>
              <a:off x="5172075" y="216025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Max-pooling layer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348547-CDB5-B9A4-B6DF-842D98C78E5B}"/>
                </a:ext>
              </a:extLst>
            </p:cNvPr>
            <p:cNvSpPr txBox="1"/>
            <p:nvPr/>
          </p:nvSpPr>
          <p:spPr>
            <a:xfrm>
              <a:off x="7041357" y="1731540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Fully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connected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layer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69603CC-6841-6DF8-5A5B-C50874D30EAB}"/>
              </a:ext>
            </a:extLst>
          </p:cNvPr>
          <p:cNvSpPr txBox="1"/>
          <p:nvPr/>
        </p:nvSpPr>
        <p:spPr>
          <a:xfrm>
            <a:off x="276696" y="4805840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[n, k] (k=300)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B18852-0B2C-ED7F-939F-2519309801E4}"/>
              </a:ext>
            </a:extLst>
          </p:cNvPr>
          <p:cNvSpPr/>
          <p:nvPr/>
        </p:nvSpPr>
        <p:spPr>
          <a:xfrm>
            <a:off x="233362" y="931783"/>
            <a:ext cx="2671763" cy="3795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315CA-6383-A08B-BB3F-AA8C0C9850E1}"/>
              </a:ext>
            </a:extLst>
          </p:cNvPr>
          <p:cNvSpPr txBox="1"/>
          <p:nvPr/>
        </p:nvSpPr>
        <p:spPr>
          <a:xfrm>
            <a:off x="5172074" y="1203933"/>
            <a:ext cx="3848709" cy="370555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6D8B0-7C50-C2EF-14BA-021F2ADC3A89}"/>
              </a:ext>
            </a:extLst>
          </p:cNvPr>
          <p:cNvSpPr txBox="1"/>
          <p:nvPr/>
        </p:nvSpPr>
        <p:spPr>
          <a:xfrm>
            <a:off x="5215408" y="2922865"/>
            <a:ext cx="3848709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CNN-non-static performed 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much better compared to CNN-rand.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(4%p better in average)</a:t>
            </a:r>
          </a:p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Proved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initializing </a:t>
            </a:r>
            <a:b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embeddings is important.</a:t>
            </a: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90D8BF71-D7CE-7DBF-A860-158346356B21}"/>
              </a:ext>
            </a:extLst>
          </p:cNvPr>
          <p:cNvGraphicFramePr>
            <a:graphicFrameLocks noGrp="1"/>
          </p:cNvGraphicFramePr>
          <p:nvPr/>
        </p:nvGraphicFramePr>
        <p:xfrm>
          <a:off x="5576886" y="1397000"/>
          <a:ext cx="326231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157">
                  <a:extLst>
                    <a:ext uri="{9D8B030D-6E8A-4147-A177-3AD203B41FA5}">
                      <a16:colId xmlns:a16="http://schemas.microsoft.com/office/drawing/2014/main" val="3741708346"/>
                    </a:ext>
                  </a:extLst>
                </a:gridCol>
                <a:gridCol w="1631157">
                  <a:extLst>
                    <a:ext uri="{9D8B030D-6E8A-4147-A177-3AD203B41FA5}">
                      <a16:colId xmlns:a16="http://schemas.microsoft.com/office/drawing/2014/main" val="1802994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Variations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Embedding</a:t>
                      </a:r>
                      <a:b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Initialization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21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CNN-rand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X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26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CNN-non-static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word2vec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39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47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24BE4D-BF13-6C89-410C-A9F96371EC1B}"/>
              </a:ext>
            </a:extLst>
          </p:cNvPr>
          <p:cNvGrpSpPr/>
          <p:nvPr/>
        </p:nvGrpSpPr>
        <p:grpSpPr>
          <a:xfrm>
            <a:off x="233363" y="931783"/>
            <a:ext cx="9393089" cy="3874057"/>
            <a:chOff x="233363" y="1106881"/>
            <a:chExt cx="9393089" cy="387405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2288D6D-9877-EC4C-B324-7F96453A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363" y="1418588"/>
              <a:ext cx="8677275" cy="356235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1ADAE6-165C-F9D9-222B-F8E252365AF3}"/>
                </a:ext>
              </a:extLst>
            </p:cNvPr>
            <p:cNvSpPr txBox="1"/>
            <p:nvPr/>
          </p:nvSpPr>
          <p:spPr>
            <a:xfrm>
              <a:off x="558155" y="1106881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Word embeddings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D8E6EB-27DE-6704-1178-A56ADB95BC31}"/>
                </a:ext>
              </a:extLst>
            </p:cNvPr>
            <p:cNvSpPr txBox="1"/>
            <p:nvPr/>
          </p:nvSpPr>
          <p:spPr>
            <a:xfrm>
              <a:off x="2905125" y="145812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Convolution layer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2D8243-4984-9A80-548A-BF9182B1C772}"/>
                </a:ext>
              </a:extLst>
            </p:cNvPr>
            <p:cNvSpPr txBox="1"/>
            <p:nvPr/>
          </p:nvSpPr>
          <p:spPr>
            <a:xfrm>
              <a:off x="5172075" y="216025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Max-pooling layer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348547-CDB5-B9A4-B6DF-842D98C78E5B}"/>
                </a:ext>
              </a:extLst>
            </p:cNvPr>
            <p:cNvSpPr txBox="1"/>
            <p:nvPr/>
          </p:nvSpPr>
          <p:spPr>
            <a:xfrm>
              <a:off x="7041357" y="1731540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Fully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connected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layer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69603CC-6841-6DF8-5A5B-C50874D30EAB}"/>
              </a:ext>
            </a:extLst>
          </p:cNvPr>
          <p:cNvSpPr txBox="1"/>
          <p:nvPr/>
        </p:nvSpPr>
        <p:spPr>
          <a:xfrm>
            <a:off x="276696" y="4805840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[n, k] (k=300)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B18852-0B2C-ED7F-939F-2519309801E4}"/>
              </a:ext>
            </a:extLst>
          </p:cNvPr>
          <p:cNvSpPr/>
          <p:nvPr/>
        </p:nvSpPr>
        <p:spPr>
          <a:xfrm>
            <a:off x="3002604" y="931783"/>
            <a:ext cx="2082804" cy="3795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315CA-6383-A08B-BB3F-AA8C0C9850E1}"/>
              </a:ext>
            </a:extLst>
          </p:cNvPr>
          <p:cNvSpPr txBox="1"/>
          <p:nvPr/>
        </p:nvSpPr>
        <p:spPr>
          <a:xfrm>
            <a:off x="5172074" y="1203933"/>
            <a:ext cx="3848709" cy="370555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6D8B0-7C50-C2EF-14BA-021F2ADC3A89}"/>
              </a:ext>
            </a:extLst>
          </p:cNvPr>
          <p:cNvSpPr txBox="1"/>
          <p:nvPr/>
        </p:nvSpPr>
        <p:spPr>
          <a:xfrm>
            <a:off x="5215408" y="3918493"/>
            <a:ext cx="3848709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Convolution through filters </a:t>
            </a:r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preserve important n-gram features.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0C727E-A07A-D68A-939F-C28CD131B7D5}"/>
              </a:ext>
            </a:extLst>
          </p:cNvPr>
          <p:cNvSpPr txBox="1"/>
          <p:nvPr/>
        </p:nvSpPr>
        <p:spPr>
          <a:xfrm>
            <a:off x="948554" y="5118340"/>
            <a:ext cx="51621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ko-KR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altLang="ko-K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0CE462-FE49-1BF9-D13C-CB5F52DA44BC}"/>
              </a:ext>
            </a:extLst>
          </p:cNvPr>
          <p:cNvSpPr txBox="1"/>
          <p:nvPr/>
        </p:nvSpPr>
        <p:spPr>
          <a:xfrm>
            <a:off x="276696" y="5350438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window:[h, k]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26CE27-DD41-9A64-24B4-2B5F3B872E8D}"/>
              </a:ext>
            </a:extLst>
          </p:cNvPr>
          <p:cNvSpPr txBox="1"/>
          <p:nvPr/>
        </p:nvSpPr>
        <p:spPr>
          <a:xfrm>
            <a:off x="2861791" y="4805840"/>
            <a:ext cx="1629752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filter:[h, k]</a:t>
            </a: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EE68258C-4275-FC7F-2360-238F634B8396}"/>
              </a:ext>
            </a:extLst>
          </p:cNvPr>
          <p:cNvSpPr/>
          <p:nvPr/>
        </p:nvSpPr>
        <p:spPr>
          <a:xfrm flipV="1">
            <a:off x="1756337" y="4670514"/>
            <a:ext cx="1530378" cy="931633"/>
          </a:xfrm>
          <a:prstGeom prst="arc">
            <a:avLst>
              <a:gd name="adj1" fmla="val 14805031"/>
              <a:gd name="adj2" fmla="val 21356584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7C885B3-F1F2-FDDF-E189-8ABD3B7A540F}"/>
              </a:ext>
            </a:extLst>
          </p:cNvPr>
          <p:cNvCxnSpPr/>
          <p:nvPr/>
        </p:nvCxnSpPr>
        <p:spPr>
          <a:xfrm>
            <a:off x="3073941" y="5453974"/>
            <a:ext cx="81712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F5CED38-DF33-C9CC-1746-1F53F1512F4D}"/>
              </a:ext>
            </a:extLst>
          </p:cNvPr>
          <p:cNvSpPr txBox="1"/>
          <p:nvPr/>
        </p:nvSpPr>
        <p:spPr>
          <a:xfrm>
            <a:off x="3860468" y="5259096"/>
            <a:ext cx="524297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C716A49-E23D-1B17-4FAB-346EB714DAF9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4384765" y="2289243"/>
            <a:ext cx="281459" cy="3165887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표 28">
            <a:extLst>
              <a:ext uri="{FF2B5EF4-FFF2-40B4-BE49-F238E27FC236}">
                <a16:creationId xmlns:a16="http://schemas.microsoft.com/office/drawing/2014/main" id="{708549DE-F342-0300-0C90-80A4D73213C8}"/>
              </a:ext>
            </a:extLst>
          </p:cNvPr>
          <p:cNvGraphicFramePr>
            <a:graphicFrameLocks noGrp="1"/>
          </p:cNvGraphicFramePr>
          <p:nvPr/>
        </p:nvGraphicFramePr>
        <p:xfrm>
          <a:off x="6357069" y="2269655"/>
          <a:ext cx="15906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04">
                  <a:extLst>
                    <a:ext uri="{9D8B030D-6E8A-4147-A177-3AD203B41FA5}">
                      <a16:colId xmlns:a16="http://schemas.microsoft.com/office/drawing/2014/main" val="422409603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3657528956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289895849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79164185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338540953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306688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64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55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5022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37E7A5E8-F0FA-A281-3BD2-955FE4A85B92}"/>
              </a:ext>
            </a:extLst>
          </p:cNvPr>
          <p:cNvSpPr txBox="1"/>
          <p:nvPr/>
        </p:nvSpPr>
        <p:spPr>
          <a:xfrm>
            <a:off x="6272231" y="1479064"/>
            <a:ext cx="1760298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&lt;Filter Weight&gt;</a:t>
            </a:r>
          </a:p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shape = [h, k]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EB215A-8095-8108-1260-B531E612A55A}"/>
              </a:ext>
            </a:extLst>
          </p:cNvPr>
          <p:cNvSpPr/>
          <p:nvPr/>
        </p:nvSpPr>
        <p:spPr>
          <a:xfrm>
            <a:off x="6357068" y="2269655"/>
            <a:ext cx="1590624" cy="11002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20BDE6-0F95-EFA1-A31C-75AC144A89E1}"/>
              </a:ext>
            </a:extLst>
          </p:cNvPr>
          <p:cNvSpPr txBox="1"/>
          <p:nvPr/>
        </p:nvSpPr>
        <p:spPr>
          <a:xfrm>
            <a:off x="5945876" y="2606105"/>
            <a:ext cx="367858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0214DF-E65A-1D15-04D8-44E90E8CB862}"/>
              </a:ext>
            </a:extLst>
          </p:cNvPr>
          <p:cNvSpPr txBox="1"/>
          <p:nvPr/>
        </p:nvSpPr>
        <p:spPr>
          <a:xfrm>
            <a:off x="6972146" y="3388632"/>
            <a:ext cx="367858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52539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24BE4D-BF13-6C89-410C-A9F96371EC1B}"/>
              </a:ext>
            </a:extLst>
          </p:cNvPr>
          <p:cNvGrpSpPr/>
          <p:nvPr/>
        </p:nvGrpSpPr>
        <p:grpSpPr>
          <a:xfrm>
            <a:off x="233363" y="931783"/>
            <a:ext cx="9393089" cy="3874057"/>
            <a:chOff x="233363" y="1106881"/>
            <a:chExt cx="9393089" cy="387405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2288D6D-9877-EC4C-B324-7F96453A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363" y="1418588"/>
              <a:ext cx="8677275" cy="356235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1ADAE6-165C-F9D9-222B-F8E252365AF3}"/>
                </a:ext>
              </a:extLst>
            </p:cNvPr>
            <p:cNvSpPr txBox="1"/>
            <p:nvPr/>
          </p:nvSpPr>
          <p:spPr>
            <a:xfrm>
              <a:off x="558155" y="1106881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Word embeddings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D8E6EB-27DE-6704-1178-A56ADB95BC31}"/>
                </a:ext>
              </a:extLst>
            </p:cNvPr>
            <p:cNvSpPr txBox="1"/>
            <p:nvPr/>
          </p:nvSpPr>
          <p:spPr>
            <a:xfrm>
              <a:off x="2905125" y="145812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Convolution layer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2D8243-4984-9A80-548A-BF9182B1C772}"/>
                </a:ext>
              </a:extLst>
            </p:cNvPr>
            <p:cNvSpPr txBox="1"/>
            <p:nvPr/>
          </p:nvSpPr>
          <p:spPr>
            <a:xfrm>
              <a:off x="5172075" y="216025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Max-pooling layer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348547-CDB5-B9A4-B6DF-842D98C78E5B}"/>
                </a:ext>
              </a:extLst>
            </p:cNvPr>
            <p:cNvSpPr txBox="1"/>
            <p:nvPr/>
          </p:nvSpPr>
          <p:spPr>
            <a:xfrm>
              <a:off x="7041357" y="1731540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Fully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connected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layer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B18852-0B2C-ED7F-939F-2519309801E4}"/>
              </a:ext>
            </a:extLst>
          </p:cNvPr>
          <p:cNvSpPr/>
          <p:nvPr/>
        </p:nvSpPr>
        <p:spPr>
          <a:xfrm>
            <a:off x="3002604" y="931783"/>
            <a:ext cx="2082804" cy="3795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315CA-6383-A08B-BB3F-AA8C0C9850E1}"/>
              </a:ext>
            </a:extLst>
          </p:cNvPr>
          <p:cNvSpPr txBox="1"/>
          <p:nvPr/>
        </p:nvSpPr>
        <p:spPr>
          <a:xfrm>
            <a:off x="5172074" y="1203933"/>
            <a:ext cx="3848709" cy="370555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5" name="표 28">
            <a:extLst>
              <a:ext uri="{FF2B5EF4-FFF2-40B4-BE49-F238E27FC236}">
                <a16:creationId xmlns:a16="http://schemas.microsoft.com/office/drawing/2014/main" id="{40F05E36-82F9-DD3F-F23E-91D399BE2734}"/>
              </a:ext>
            </a:extLst>
          </p:cNvPr>
          <p:cNvGraphicFramePr>
            <a:graphicFrameLocks noGrp="1"/>
          </p:cNvGraphicFramePr>
          <p:nvPr/>
        </p:nvGraphicFramePr>
        <p:xfrm>
          <a:off x="6083412" y="2278396"/>
          <a:ext cx="15906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04">
                  <a:extLst>
                    <a:ext uri="{9D8B030D-6E8A-4147-A177-3AD203B41FA5}">
                      <a16:colId xmlns:a16="http://schemas.microsoft.com/office/drawing/2014/main" val="422409603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3657528956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289895849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79164185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338540953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306688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4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55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550224"/>
                  </a:ext>
                </a:extLst>
              </a:tr>
            </a:tbl>
          </a:graphicData>
        </a:graphic>
      </p:graphicFrame>
      <p:graphicFrame>
        <p:nvGraphicFramePr>
          <p:cNvPr id="26" name="표 28">
            <a:extLst>
              <a:ext uri="{FF2B5EF4-FFF2-40B4-BE49-F238E27FC236}">
                <a16:creationId xmlns:a16="http://schemas.microsoft.com/office/drawing/2014/main" id="{E6B5E2AA-AE71-BFD4-38E5-F873F10ECFDE}"/>
              </a:ext>
            </a:extLst>
          </p:cNvPr>
          <p:cNvGraphicFramePr>
            <a:graphicFrameLocks noGrp="1"/>
          </p:cNvGraphicFramePr>
          <p:nvPr/>
        </p:nvGraphicFramePr>
        <p:xfrm>
          <a:off x="5966413" y="2362848"/>
          <a:ext cx="15906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04">
                  <a:extLst>
                    <a:ext uri="{9D8B030D-6E8A-4147-A177-3AD203B41FA5}">
                      <a16:colId xmlns:a16="http://schemas.microsoft.com/office/drawing/2014/main" val="422409603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3657528956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289895849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79164185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338540953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306688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4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55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55022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D66D8B0-7C50-C2EF-14BA-021F2ADC3A89}"/>
              </a:ext>
            </a:extLst>
          </p:cNvPr>
          <p:cNvSpPr txBox="1"/>
          <p:nvPr/>
        </p:nvSpPr>
        <p:spPr>
          <a:xfrm>
            <a:off x="5440362" y="3904087"/>
            <a:ext cx="2893542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&lt;Convolution layer&gt;</a:t>
            </a:r>
          </a:p>
          <a:p>
            <a:pPr>
              <a:spcBef>
                <a:spcPts val="500"/>
              </a:spcBef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filter windows(h) : 3, 4, 5</a:t>
            </a:r>
          </a:p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100 filters for each h</a:t>
            </a:r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(total 300 filters)</a:t>
            </a:r>
          </a:p>
        </p:txBody>
      </p:sp>
      <p:graphicFrame>
        <p:nvGraphicFramePr>
          <p:cNvPr id="23" name="표 28">
            <a:extLst>
              <a:ext uri="{FF2B5EF4-FFF2-40B4-BE49-F238E27FC236}">
                <a16:creationId xmlns:a16="http://schemas.microsoft.com/office/drawing/2014/main" id="{EA7B115D-6BD8-D977-CF55-075B3503A58A}"/>
              </a:ext>
            </a:extLst>
          </p:cNvPr>
          <p:cNvGraphicFramePr>
            <a:graphicFrameLocks noGrp="1"/>
          </p:cNvGraphicFramePr>
          <p:nvPr/>
        </p:nvGraphicFramePr>
        <p:xfrm>
          <a:off x="5861446" y="2443769"/>
          <a:ext cx="15906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04">
                  <a:extLst>
                    <a:ext uri="{9D8B030D-6E8A-4147-A177-3AD203B41FA5}">
                      <a16:colId xmlns:a16="http://schemas.microsoft.com/office/drawing/2014/main" val="422409603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3657528956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289895849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79164185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338540953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306688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4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55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550224"/>
                  </a:ext>
                </a:extLst>
              </a:tr>
            </a:tbl>
          </a:graphicData>
        </a:graphic>
      </p:graphicFrame>
      <p:graphicFrame>
        <p:nvGraphicFramePr>
          <p:cNvPr id="28" name="표 28">
            <a:extLst>
              <a:ext uri="{FF2B5EF4-FFF2-40B4-BE49-F238E27FC236}">
                <a16:creationId xmlns:a16="http://schemas.microsoft.com/office/drawing/2014/main" id="{708549DE-F342-0300-0C90-80A4D73213C8}"/>
              </a:ext>
            </a:extLst>
          </p:cNvPr>
          <p:cNvGraphicFramePr>
            <a:graphicFrameLocks noGrp="1"/>
          </p:cNvGraphicFramePr>
          <p:nvPr/>
        </p:nvGraphicFramePr>
        <p:xfrm>
          <a:off x="5742372" y="2531753"/>
          <a:ext cx="15906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04">
                  <a:extLst>
                    <a:ext uri="{9D8B030D-6E8A-4147-A177-3AD203B41FA5}">
                      <a16:colId xmlns:a16="http://schemas.microsoft.com/office/drawing/2014/main" val="422409603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3657528956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289895849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791641854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1338540953"/>
                    </a:ext>
                  </a:extLst>
                </a:gridCol>
                <a:gridCol w="265104">
                  <a:extLst>
                    <a:ext uri="{9D8B030D-6E8A-4147-A177-3AD203B41FA5}">
                      <a16:colId xmlns:a16="http://schemas.microsoft.com/office/drawing/2014/main" val="2306688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4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55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55022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37E7A5E8-F0FA-A281-3BD2-955FE4A85B92}"/>
              </a:ext>
            </a:extLst>
          </p:cNvPr>
          <p:cNvSpPr txBox="1"/>
          <p:nvPr/>
        </p:nvSpPr>
        <p:spPr>
          <a:xfrm>
            <a:off x="5781392" y="1479064"/>
            <a:ext cx="2478069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&lt;Filter Weight&gt;</a:t>
            </a:r>
          </a:p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shape = [h, k, 100] X 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EB215A-8095-8108-1260-B531E612A55A}"/>
              </a:ext>
            </a:extLst>
          </p:cNvPr>
          <p:cNvSpPr/>
          <p:nvPr/>
        </p:nvSpPr>
        <p:spPr>
          <a:xfrm>
            <a:off x="5742371" y="2531753"/>
            <a:ext cx="1590624" cy="11002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20BDE6-0F95-EFA1-A31C-75AC144A89E1}"/>
              </a:ext>
            </a:extLst>
          </p:cNvPr>
          <p:cNvSpPr txBox="1"/>
          <p:nvPr/>
        </p:nvSpPr>
        <p:spPr>
          <a:xfrm>
            <a:off x="5331179" y="2868203"/>
            <a:ext cx="367858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0214DF-E65A-1D15-04D8-44E90E8CB862}"/>
              </a:ext>
            </a:extLst>
          </p:cNvPr>
          <p:cNvSpPr txBox="1"/>
          <p:nvPr/>
        </p:nvSpPr>
        <p:spPr>
          <a:xfrm>
            <a:off x="6357449" y="3650730"/>
            <a:ext cx="367858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88878A-8D0C-6135-E301-82ECA52CA2DE}"/>
                  </a:ext>
                </a:extLst>
              </p:cNvPr>
              <p:cNvSpPr txBox="1"/>
              <p:nvPr/>
            </p:nvSpPr>
            <p:spPr>
              <a:xfrm>
                <a:off x="1304130" y="5038731"/>
                <a:ext cx="2893542" cy="907108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5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ko-KR" b="1" i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w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ko-KR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: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ko-KR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5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b="1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c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=[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, …,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88878A-8D0C-6135-E301-82ECA52CA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30" y="5038731"/>
                <a:ext cx="2893542" cy="90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EC8478C-9403-FC37-3BEB-CE7C2298C90C}"/>
              </a:ext>
            </a:extLst>
          </p:cNvPr>
          <p:cNvSpPr txBox="1"/>
          <p:nvPr/>
        </p:nvSpPr>
        <p:spPr>
          <a:xfrm>
            <a:off x="7425848" y="3454696"/>
            <a:ext cx="553680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49F19-F324-3ADC-0C12-8A67E9B8DBB0}"/>
              </a:ext>
            </a:extLst>
          </p:cNvPr>
          <p:cNvSpPr txBox="1"/>
          <p:nvPr/>
        </p:nvSpPr>
        <p:spPr>
          <a:xfrm>
            <a:off x="7770013" y="2811237"/>
            <a:ext cx="633526" cy="392067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</a:rPr>
              <a:t>X 3</a:t>
            </a:r>
          </a:p>
        </p:txBody>
      </p:sp>
    </p:spTree>
    <p:extLst>
      <p:ext uri="{BB962C8B-B14F-4D97-AF65-F5344CB8AC3E}">
        <p14:creationId xmlns:p14="http://schemas.microsoft.com/office/powerpoint/2010/main" val="300490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24BE4D-BF13-6C89-410C-A9F96371EC1B}"/>
              </a:ext>
            </a:extLst>
          </p:cNvPr>
          <p:cNvGrpSpPr/>
          <p:nvPr/>
        </p:nvGrpSpPr>
        <p:grpSpPr>
          <a:xfrm>
            <a:off x="233363" y="931783"/>
            <a:ext cx="9393089" cy="3874057"/>
            <a:chOff x="233363" y="1106881"/>
            <a:chExt cx="9393089" cy="387405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2288D6D-9877-EC4C-B324-7F96453A8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3363" y="1418588"/>
              <a:ext cx="8677275" cy="356235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31ADAE6-165C-F9D9-222B-F8E252365AF3}"/>
                </a:ext>
              </a:extLst>
            </p:cNvPr>
            <p:cNvSpPr txBox="1"/>
            <p:nvPr/>
          </p:nvSpPr>
          <p:spPr>
            <a:xfrm>
              <a:off x="558155" y="1106881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Word embeddings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D8E6EB-27DE-6704-1178-A56ADB95BC31}"/>
                </a:ext>
              </a:extLst>
            </p:cNvPr>
            <p:cNvSpPr txBox="1"/>
            <p:nvPr/>
          </p:nvSpPr>
          <p:spPr>
            <a:xfrm>
              <a:off x="2905125" y="145812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Convolution layer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2D8243-4984-9A80-548A-BF9182B1C772}"/>
                </a:ext>
              </a:extLst>
            </p:cNvPr>
            <p:cNvSpPr txBox="1"/>
            <p:nvPr/>
          </p:nvSpPr>
          <p:spPr>
            <a:xfrm>
              <a:off x="5172075" y="216025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Max-pooling layer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348547-CDB5-B9A4-B6DF-842D98C78E5B}"/>
                </a:ext>
              </a:extLst>
            </p:cNvPr>
            <p:cNvSpPr txBox="1"/>
            <p:nvPr/>
          </p:nvSpPr>
          <p:spPr>
            <a:xfrm>
              <a:off x="7041357" y="1731540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Fully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connected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layer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B18852-0B2C-ED7F-939F-2519309801E4}"/>
              </a:ext>
            </a:extLst>
          </p:cNvPr>
          <p:cNvSpPr/>
          <p:nvPr/>
        </p:nvSpPr>
        <p:spPr>
          <a:xfrm>
            <a:off x="5374863" y="1714639"/>
            <a:ext cx="2082804" cy="29843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6D8B0-7C50-C2EF-14BA-021F2ADC3A89}"/>
              </a:ext>
            </a:extLst>
          </p:cNvPr>
          <p:cNvSpPr txBox="1"/>
          <p:nvPr/>
        </p:nvSpPr>
        <p:spPr>
          <a:xfrm>
            <a:off x="5440362" y="4857197"/>
            <a:ext cx="2893542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&lt;Max-pooling layer&gt;</a:t>
            </a:r>
          </a:p>
          <a:p>
            <a:pPr>
              <a:spcBef>
                <a:spcPts val="500"/>
              </a:spcBef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Max-over-time-pooling</a:t>
            </a:r>
            <a:b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(extract </a:t>
            </a:r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 value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of each layer)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88878A-8D0C-6135-E301-82ECA52CA2DE}"/>
                  </a:ext>
                </a:extLst>
              </p:cNvPr>
              <p:cNvSpPr txBox="1"/>
              <p:nvPr/>
            </p:nvSpPr>
            <p:spPr>
              <a:xfrm>
                <a:off x="558155" y="4896884"/>
                <a:ext cx="2893542" cy="907108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5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max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⁡{</m:t>
                      </m:r>
                      <m:r>
                        <m:rPr>
                          <m:nor/>
                        </m:rPr>
                        <a:rPr lang="en-US" altLang="ko-KR" b="1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ko-KR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88878A-8D0C-6135-E301-82ECA52CA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55" y="4896884"/>
                <a:ext cx="2893542" cy="90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17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C24BE4D-BF13-6C89-410C-A9F96371EC1B}"/>
              </a:ext>
            </a:extLst>
          </p:cNvPr>
          <p:cNvGrpSpPr/>
          <p:nvPr/>
        </p:nvGrpSpPr>
        <p:grpSpPr>
          <a:xfrm>
            <a:off x="123217" y="1844447"/>
            <a:ext cx="6721327" cy="3562350"/>
            <a:chOff x="2905125" y="1418588"/>
            <a:chExt cx="6721327" cy="356235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2288D6D-9877-EC4C-B324-7F96453A80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1853"/>
            <a:stretch/>
          </p:blipFill>
          <p:spPr>
            <a:xfrm>
              <a:off x="2997348" y="1418588"/>
              <a:ext cx="5913290" cy="35623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D8E6EB-27DE-6704-1178-A56ADB95BC31}"/>
                </a:ext>
              </a:extLst>
            </p:cNvPr>
            <p:cNvSpPr txBox="1"/>
            <p:nvPr/>
          </p:nvSpPr>
          <p:spPr>
            <a:xfrm>
              <a:off x="2905125" y="145812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Convolution layer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2D8243-4984-9A80-548A-BF9182B1C772}"/>
                </a:ext>
              </a:extLst>
            </p:cNvPr>
            <p:cNvSpPr txBox="1"/>
            <p:nvPr/>
          </p:nvSpPr>
          <p:spPr>
            <a:xfrm>
              <a:off x="5172075" y="2160259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Max-pooling layer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348547-CDB5-B9A4-B6DF-842D98C78E5B}"/>
                </a:ext>
              </a:extLst>
            </p:cNvPr>
            <p:cNvSpPr txBox="1"/>
            <p:nvPr/>
          </p:nvSpPr>
          <p:spPr>
            <a:xfrm>
              <a:off x="7041357" y="1731540"/>
              <a:ext cx="2585095" cy="39206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Fully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connected </a:t>
              </a:r>
              <a:b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layer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B18852-0B2C-ED7F-939F-2519309801E4}"/>
              </a:ext>
            </a:extLst>
          </p:cNvPr>
          <p:cNvSpPr/>
          <p:nvPr/>
        </p:nvSpPr>
        <p:spPr>
          <a:xfrm>
            <a:off x="4622660" y="2012952"/>
            <a:ext cx="1598293" cy="3393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D42021-91AC-377E-0FF0-9A3B7091B0AE}"/>
              </a:ext>
            </a:extLst>
          </p:cNvPr>
          <p:cNvSpPr txBox="1"/>
          <p:nvPr/>
        </p:nvSpPr>
        <p:spPr>
          <a:xfrm>
            <a:off x="6367462" y="4203147"/>
            <a:ext cx="2893542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&lt;Fully connected layer&gt;</a:t>
            </a:r>
          </a:p>
          <a:p>
            <a:pPr>
              <a:spcBef>
                <a:spcPts val="500"/>
              </a:spcBef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500"/>
              </a:spcBef>
              <a:buFontTx/>
              <a:buChar char="-"/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Adapt </a:t>
            </a:r>
            <a:r>
              <a:rPr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 function</a:t>
            </a: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E6873-5ECB-1DBA-15E6-99474D10E6F1}"/>
              </a:ext>
            </a:extLst>
          </p:cNvPr>
          <p:cNvSpPr txBox="1"/>
          <p:nvPr/>
        </p:nvSpPr>
        <p:spPr>
          <a:xfrm>
            <a:off x="5017483" y="5463945"/>
            <a:ext cx="808646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[2, 1]</a:t>
            </a: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DE4A270-3382-C6A2-E0B6-49B209B1270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5758233" y="2769149"/>
            <a:ext cx="1225837" cy="5392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B0CFF7-C0E9-D799-B261-9A3311C2EE20}"/>
              </a:ext>
            </a:extLst>
          </p:cNvPr>
          <p:cNvSpPr txBox="1"/>
          <p:nvPr/>
        </p:nvSpPr>
        <p:spPr>
          <a:xfrm>
            <a:off x="5691522" y="2377082"/>
            <a:ext cx="2585095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[0.3, 0.7]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2742F80-0529-7E53-70C4-6D38867DEF45}"/>
              </a:ext>
            </a:extLst>
          </p:cNvPr>
          <p:cNvCxnSpPr>
            <a:cxnSpLocks/>
          </p:cNvCxnSpPr>
          <p:nvPr/>
        </p:nvCxnSpPr>
        <p:spPr>
          <a:xfrm>
            <a:off x="7557117" y="2593535"/>
            <a:ext cx="423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5DF02E-D65B-FD0D-A3FE-A5AED2647B77}"/>
              </a:ext>
            </a:extLst>
          </p:cNvPr>
          <p:cNvSpPr txBox="1"/>
          <p:nvPr/>
        </p:nvSpPr>
        <p:spPr>
          <a:xfrm>
            <a:off x="7980117" y="2397502"/>
            <a:ext cx="1108953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Negative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684171C-4736-0B99-533B-B4C22D4233AE}"/>
              </a:ext>
            </a:extLst>
          </p:cNvPr>
          <p:cNvCxnSpPr>
            <a:cxnSpLocks/>
          </p:cNvCxnSpPr>
          <p:nvPr/>
        </p:nvCxnSpPr>
        <p:spPr>
          <a:xfrm flipH="1" flipV="1">
            <a:off x="6453115" y="2027478"/>
            <a:ext cx="508402" cy="407031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672CB6F-5F24-A1CA-96DE-6F81A4154076}"/>
              </a:ext>
            </a:extLst>
          </p:cNvPr>
          <p:cNvCxnSpPr>
            <a:cxnSpLocks/>
          </p:cNvCxnSpPr>
          <p:nvPr/>
        </p:nvCxnSpPr>
        <p:spPr>
          <a:xfrm flipV="1">
            <a:off x="7424699" y="2026666"/>
            <a:ext cx="515852" cy="407843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2D5747-8044-9153-58A8-D038F3770F2C}"/>
              </a:ext>
            </a:extLst>
          </p:cNvPr>
          <p:cNvSpPr txBox="1"/>
          <p:nvPr/>
        </p:nvSpPr>
        <p:spPr>
          <a:xfrm>
            <a:off x="5383071" y="1326444"/>
            <a:ext cx="1523951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Positive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E7915F-E396-63DB-2FE0-6A7B5CDAEE5A}"/>
              </a:ext>
            </a:extLst>
          </p:cNvPr>
          <p:cNvSpPr txBox="1"/>
          <p:nvPr/>
        </p:nvSpPr>
        <p:spPr>
          <a:xfrm>
            <a:off x="7593025" y="1324665"/>
            <a:ext cx="1523951" cy="392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Negative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416982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374005" y="914306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[Objective]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Experiment on two datasets (MR, SNIPS) – datasets are provided.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Classify sentences into each class, respectively.</a:t>
            </a:r>
          </a:p>
          <a:p>
            <a:pPr>
              <a:spcBef>
                <a:spcPts val="500"/>
              </a:spcBef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Use provided basic code (CNN-non-static).</a:t>
            </a:r>
          </a:p>
          <a:p>
            <a:pPr>
              <a:spcBef>
                <a:spcPts val="500"/>
              </a:spcBef>
            </a:pPr>
            <a:endParaRPr lang="en-US" altLang="ko-KR" sz="1200" dirty="0"/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9E1C84C-73D9-436D-EAF8-343B6BAAF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29" y="2780754"/>
            <a:ext cx="7427542" cy="304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1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[Dataset]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SearchCreativeWork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Find me the I, Robot television show),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GetWeather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Is it windy in Boston, MA right now?),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BookRestaurant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I want to book a highly rated restaurant in Paris tomorrow night),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PlayMusic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Play the last track from Beyoncé off Spotify),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AddToPlaylist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Add Diamonds to my </a:t>
            </a: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roadtrip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playlist),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RateBook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Give 6 stars to Of Mice and Men),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SearchScreeningEvent</a:t>
            </a: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 (e.g. Check the showtimes for Wonder Woman in Paris). </a:t>
            </a:r>
            <a:b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The training set contains of 13,084 utterances, the validation set and the test set contain 700 utterances each, with 100 queries per intent.</a:t>
            </a:r>
            <a:endParaRPr lang="en-US" altLang="ko-KR" sz="105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CB759E9-38C1-97B0-26EC-01DAD82FEAA4}"/>
              </a:ext>
            </a:extLst>
          </p:cNvPr>
          <p:cNvGraphicFramePr>
            <a:graphicFrameLocks noGrp="1"/>
          </p:cNvGraphicFramePr>
          <p:nvPr/>
        </p:nvGraphicFramePr>
        <p:xfrm>
          <a:off x="640405" y="1772165"/>
          <a:ext cx="7863191" cy="168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499">
                  <a:extLst>
                    <a:ext uri="{9D8B030D-6E8A-4147-A177-3AD203B41FA5}">
                      <a16:colId xmlns:a16="http://schemas.microsoft.com/office/drawing/2014/main" val="3426523892"/>
                    </a:ext>
                  </a:extLst>
                </a:gridCol>
                <a:gridCol w="4060612">
                  <a:extLst>
                    <a:ext uri="{9D8B030D-6E8A-4147-A177-3AD203B41FA5}">
                      <a16:colId xmlns:a16="http://schemas.microsoft.com/office/drawing/2014/main" val="2638322689"/>
                    </a:ext>
                  </a:extLst>
                </a:gridCol>
                <a:gridCol w="1066080">
                  <a:extLst>
                    <a:ext uri="{9D8B030D-6E8A-4147-A177-3AD203B41FA5}">
                      <a16:colId xmlns:a16="http://schemas.microsoft.com/office/drawing/2014/main" val="419433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Target</a:t>
                      </a:r>
                      <a:br>
                        <a:rPr lang="en-US" altLang="ko-K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44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MR (Pang and Lee, 2005)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Movie reviews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16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SNIPS (https://paperswithcode.com/dataset/snips)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Classifying a queries into 7 user intents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006962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388D8950-84A4-DB44-84CC-FBB3810535F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44453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[Model Variations]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120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CB759E9-38C1-97B0-26EC-01DAD82FEAA4}"/>
              </a:ext>
            </a:extLst>
          </p:cNvPr>
          <p:cNvGraphicFramePr>
            <a:graphicFrameLocks noGrp="1"/>
          </p:cNvGraphicFramePr>
          <p:nvPr/>
        </p:nvGraphicFramePr>
        <p:xfrm>
          <a:off x="389730" y="1772165"/>
          <a:ext cx="8364540" cy="254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81">
                  <a:extLst>
                    <a:ext uri="{9D8B030D-6E8A-4147-A177-3AD203B41FA5}">
                      <a16:colId xmlns:a16="http://schemas.microsoft.com/office/drawing/2014/main" val="3426523892"/>
                    </a:ext>
                  </a:extLst>
                </a:gridCol>
                <a:gridCol w="1697053">
                  <a:extLst>
                    <a:ext uri="{9D8B030D-6E8A-4147-A177-3AD203B41FA5}">
                      <a16:colId xmlns:a16="http://schemas.microsoft.com/office/drawing/2014/main" val="2638322689"/>
                    </a:ext>
                  </a:extLst>
                </a:gridCol>
                <a:gridCol w="2911205">
                  <a:extLst>
                    <a:ext uri="{9D8B030D-6E8A-4147-A177-3AD203B41FA5}">
                      <a16:colId xmlns:a16="http://schemas.microsoft.com/office/drawing/2014/main" val="419433208"/>
                    </a:ext>
                  </a:extLst>
                </a:gridCol>
                <a:gridCol w="1588401">
                  <a:extLst>
                    <a:ext uri="{9D8B030D-6E8A-4147-A177-3AD203B41FA5}">
                      <a16:colId xmlns:a16="http://schemas.microsoft.com/office/drawing/2014/main" val="2953359076"/>
                    </a:ext>
                  </a:extLst>
                </a:gridCol>
              </a:tblGrid>
              <a:tr h="5874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Variations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Embedding</a:t>
                      </a:r>
                      <a:br>
                        <a:rPr lang="en-US" altLang="ko-K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Initialization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Modified during training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Multichannel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447844"/>
                  </a:ext>
                </a:extLst>
              </a:tr>
              <a:tr h="4882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CNN-rand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16335"/>
                  </a:ext>
                </a:extLst>
              </a:tr>
              <a:tr h="4882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CNN-static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word2vec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006962"/>
                  </a:ext>
                </a:extLst>
              </a:tr>
              <a:tr h="4882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CNN-non-static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word2vec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045228"/>
                  </a:ext>
                </a:extLst>
              </a:tr>
              <a:tr h="4882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CNN-multichannel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Word2vec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 for one, X for the other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 (two channels)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767725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515365EE-CF6C-D209-F196-EDB072AAF6CA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87958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93544" y="691200"/>
            <a:ext cx="8756913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clean_str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(string):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"[^A-Za-z0-9(),!?\'\`]"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"\'s"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\'s"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"\'ve"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\'ve"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"n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\'t"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n\'t"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"\'re"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\'re"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"\'d"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\'d"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"\'ll"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\'ll"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","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,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"!"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!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"\("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\(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"\)"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\)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"\?"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\?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string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"\s{2,}"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string)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string.strip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().lower()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94F76E-7A15-1259-45FB-E9DF301F6798}"/>
              </a:ext>
            </a:extLst>
          </p:cNvPr>
          <p:cNvSpPr/>
          <p:nvPr/>
        </p:nvSpPr>
        <p:spPr>
          <a:xfrm>
            <a:off x="193544" y="3669350"/>
            <a:ext cx="8756913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load_mr_data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pos_file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neg_file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list(open(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pos_file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"r"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encoding=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'latin-1'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readlines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clean_str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(sent) for sent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list(open(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neg_file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"r"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encoding=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'latin-1'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readlines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clean_str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(sent) for sent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positive_labels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[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for _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negative_labels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[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for _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y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positive_labels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negative_labels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x_final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neg_text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x_final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y]</a:t>
            </a:r>
          </a:p>
        </p:txBody>
      </p:sp>
    </p:spTree>
    <p:extLst>
      <p:ext uri="{BB962C8B-B14F-4D97-AF65-F5344CB8AC3E}">
        <p14:creationId xmlns:p14="http://schemas.microsoft.com/office/powerpoint/2010/main" val="64185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93544" y="691200"/>
            <a:ext cx="8756913" cy="24929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buildVocab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(sentences,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# Build vocabulary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words = []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sentence in sentences: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words.extend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sentence.split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()) 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, am, a, boy, you, are, a, girl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print(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"The number of words: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(words))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collections.Counter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(words)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# Mapping from index to word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vocabulary_inv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[x[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for x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word_counts.most_common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#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vocabulary_inv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= list(sorted(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vocabulary_inv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# Mapping from word to index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vocabulary = {x: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for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x in enumerate(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vocabulary_inv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)} 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a: 0, i: 1...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[vocabulary,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vocabulary_inv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94F76E-7A15-1259-45FB-E9DF301F6798}"/>
              </a:ext>
            </a:extLst>
          </p:cNvPr>
          <p:cNvSpPr/>
          <p:nvPr/>
        </p:nvSpPr>
        <p:spPr>
          <a:xfrm>
            <a:off x="193544" y="3669350"/>
            <a:ext cx="8756913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sequence_to_tensor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sequence_list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nb_paddings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nb_front_pad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nb_back_pad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nb_paddings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max_length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(max(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sequence_list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key=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))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nb_front_pad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nb_back_pad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torch.LongTensor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sequence_list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max_length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).zero_()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0: &lt;pad&gt;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print(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"\n max length: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+ str(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max_length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sequence in enumerate(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sequence_list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nb_front_pad:len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(sequence) +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nb_front_pad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(sequence)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sequence_tensor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564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93544" y="691200"/>
            <a:ext cx="8756913" cy="36009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text_to_indices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use_unk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=False):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text_indices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[]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text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words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text.split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ids = [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&lt;s&gt;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word in words: 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, am, a, boy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if word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[word]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else:  #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oov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if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use_unk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OOV (out-of-vocabulary)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else: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[word]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ids.append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5, 8, 6, 19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ids.append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&lt;/s&gt;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text_indices.append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(ids)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text_indices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191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93544" y="691200"/>
            <a:ext cx="8756913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ConvFeatures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nn.Module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__(self,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word_dimension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dropout_rate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conv = []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size, num in zip(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conv2d = nn.Conv2d(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num, (size,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word_dimension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nn.init.kaiming_normal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_(conv2d.weight, mode='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fan_out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', nonlinearity='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nn.init.zeros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_(conv2d.bias)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conv.append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nn.Sequential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conv2d,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inplace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=True)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))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self.conv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nn.ModuleList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(conv)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self.filter_sizes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self.dropout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nn.Dropout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dropout_rate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forward(self,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embedded_words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features = []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conv in zip(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self.filter_sizes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self.conv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conv_output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conv(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embedded_words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conv_output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conv_output.squeeze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-1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).max(dim=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-1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)[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 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features.append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conv_output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del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conv_output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features = torch.cat(features, dim=1)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dropped_features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self.dropout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(features)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dropped_features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171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22172" y="691200"/>
            <a:ext cx="8899656" cy="58169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CNN-non-static model</a:t>
            </a:r>
          </a:p>
          <a:p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4EC9B0"/>
                </a:solidFill>
                <a:latin typeface="Consolas" panose="020B0609020204030204" pitchFamily="49" charset="0"/>
              </a:rPr>
              <a:t>SentenceCnn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nn.Module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__(self,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word_embedding_numpy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dropout_rate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__()</a:t>
            </a: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word_embedding_numpy.shape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[0]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word_dimension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word_embedding_numpy.shape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[1]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Word embedding layer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self.word_embedding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nn.Embedding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word_dimension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padding_idx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=0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)</a:t>
            </a:r>
            <a:br>
              <a:rPr lang="en-US" altLang="ko-KR" sz="1200" dirty="0">
                <a:solidFill>
                  <a:srgbClr val="FF4747"/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    # use word2vec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self.word_embedding.weight.detach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().copy_(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word_embedding_numpy.astype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(np.float32)))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    # Convolutional layer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self.features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ConvFeatures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word_dimension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dropout_rate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    # Fully-connected layer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nb_total_filters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sum(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self.linear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nn.Linear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nb_total_filters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nn.init.kaiming_normal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self.linear.weight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mode='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fan_out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', nonlinearity='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relu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torch.nn.init.zeros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_(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self.linear.bias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forward(self,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input_x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x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self.word_embedding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input_x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x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x.unsqueeze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(1)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add one channel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self.features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logits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self.linear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logits</a:t>
            </a:r>
          </a:p>
        </p:txBody>
      </p:sp>
    </p:spTree>
    <p:extLst>
      <p:ext uri="{BB962C8B-B14F-4D97-AF65-F5344CB8AC3E}">
        <p14:creationId xmlns:p14="http://schemas.microsoft.com/office/powerpoint/2010/main" val="3096095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22172" y="691200"/>
            <a:ext cx="8899656" cy="54476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 dirty="0">
                <a:solidFill>
                  <a:srgbClr val="6AA94F"/>
                </a:solidFill>
                <a:latin typeface="Consolas" panose="020B0609020204030204" pitchFamily="49" charset="0"/>
              </a:rPr>
              <a:t>데이터셋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task: MR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data_files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MR: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pos_file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D:/python/workspace/NLP_lecture/data/MR/rt-polarity.pos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neg_file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D:/python/workspace/NLP_lecture/data/MR/rt-polarity.neg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pos_test_file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D:/python/workspace/NLP_lecture/data/MR/rt-polarity_test.pos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neg_test_file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D:/python/workspace/NLP_lecture/data/MR/rt-polarity_test.neg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oversample_train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true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디멘션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model: CNN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model_params_cnn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[3, 4, 5]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[100, 100, 100]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64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 dirty="0">
                <a:solidFill>
                  <a:srgbClr val="6AA94F"/>
                </a:solidFill>
                <a:latin typeface="Consolas" panose="020B0609020204030204" pitchFamily="49" charset="0"/>
              </a:rPr>
              <a:t>트레이닝 여부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trainable_padding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true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 dirty="0">
                <a:solidFill>
                  <a:srgbClr val="6AA94F"/>
                </a:solidFill>
                <a:latin typeface="Consolas" panose="020B0609020204030204" pitchFamily="49" charset="0"/>
              </a:rPr>
              <a:t>초기화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random_seed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54321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embedding_file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D:/python/workspace/DNN/COSE474/data/GoogleNews-vectors-negative300.bin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embedding_dim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300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30000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use_unk_for_oov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true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876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22172" y="691200"/>
            <a:ext cx="8899656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레귤러리제이션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dropout_rate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0.5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l2_reg_lambda: 1.0e-4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optimizer: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adam</a:t>
            </a:r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#optimizer: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adadelta</a:t>
            </a:r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optimizer_params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adam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lr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1.0e-3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#betas: [0.7, 0.999]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#weight_decay: 1.0e-7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adadelta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lr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1.0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   rho: 0.95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   eps: 1.0e-8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#lr_schedule: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step_exponential_decay</a:t>
            </a:r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lr_schedule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slanted_triangle</a:t>
            </a:r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lr_schedule_params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step_exponential_decay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gamma: 0.98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step_size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1000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slanted_triangle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cut_fraction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0.1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max_min_lr_ratio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256</a:t>
            </a:r>
          </a:p>
          <a:p>
            <a:endParaRPr lang="en-US" altLang="ko-KR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</a:t>
            </a:r>
            <a:r>
              <a:rPr lang="ko-KR" altLang="en-US" sz="1200" dirty="0">
                <a:solidFill>
                  <a:srgbClr val="6AA94F"/>
                </a:solidFill>
                <a:latin typeface="Consolas" panose="020B0609020204030204" pitchFamily="49" charset="0"/>
              </a:rPr>
              <a:t>트레이닝 프로세스</a:t>
            </a:r>
          </a:p>
          <a:p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max_epochs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: 100</a:t>
            </a:r>
          </a:p>
        </p:txBody>
      </p:sp>
    </p:spTree>
    <p:extLst>
      <p:ext uri="{BB962C8B-B14F-4D97-AF65-F5344CB8AC3E}">
        <p14:creationId xmlns:p14="http://schemas.microsoft.com/office/powerpoint/2010/main" val="293394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22172" y="691200"/>
            <a:ext cx="8899656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load data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task ==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"MR"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y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load_mr_data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mr_train_file_pos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mr_train_file_neg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max(y) +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print("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",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task ==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"SNIPS"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pass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_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buildVocab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 +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30000 + 4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"vocabulary size: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word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word_id_dict.keys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[word] +=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&lt;pad&gt;: 0, &lt;</a:t>
            </a:r>
            <a:r>
              <a:rPr lang="en-US" altLang="ko-KR" sz="1200" dirty="0" err="1">
                <a:solidFill>
                  <a:srgbClr val="6AA94F"/>
                </a:solidFill>
                <a:latin typeface="Consolas" panose="020B0609020204030204" pitchFamily="49" charset="0"/>
              </a:rPr>
              <a:t>unk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&gt;: 1, &lt;s&gt;: 2 (a: 0 -&gt; 4)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'&lt;pad&gt;'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token for zero padding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'&lt;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unk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&gt;'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token for OOV word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'&lt;s&gt;'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start token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'&lt;/s&gt;'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end token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text_to_indices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x_text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data = list(zip(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y))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random.shuffle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(data)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y = zip(*data)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dev_sample_index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-1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* int(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dev_sample_percentage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* float(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(y)))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[: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dev_sample_index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x_indices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dev_sample_index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:]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y[: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dev_sample_index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], y[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dev_sample_index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:]</a:t>
            </a:r>
          </a:p>
        </p:txBody>
      </p:sp>
    </p:spTree>
    <p:extLst>
      <p:ext uri="{BB962C8B-B14F-4D97-AF65-F5344CB8AC3E}">
        <p14:creationId xmlns:p14="http://schemas.microsoft.com/office/powerpoint/2010/main" val="4034407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22172" y="691200"/>
            <a:ext cx="8899656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word2vec: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use word2vec</a:t>
            </a:r>
            <a:endParaRPr lang="ko-KR" altLang="en-US" sz="1200" dirty="0">
              <a:solidFill>
                <a:srgbClr val="6AA94F"/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"Loading W2V data..."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KeyedVectors.load_word2vec_format(word2vec, binary=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  </a:t>
            </a:r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# pre-trained word2vec load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pre_emb.init_sims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(replace=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num_keys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pre_emb.key_to_index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print(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"loaded word2vec 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 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num_keys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initW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np.random.uniform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-0.25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0.25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vocab_size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embedding_dim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dirty="0">
                <a:solidFill>
                  <a:srgbClr val="6AA94F"/>
                </a:solidFill>
                <a:latin typeface="Consolas" panose="020B0609020204030204" pitchFamily="49" charset="0"/>
              </a:rPr>
              <a:t>    # load any vectors from the word2vec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print(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init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initW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cnn.W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 in FLAG"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w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word_id_dict.keys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[]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s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re.sub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'[^0-9a-zA-Z]+'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w)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w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 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[w]  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w.lower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 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w.lower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s 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 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[s]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s.isdigit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():  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pre_emb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'1'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 &gt;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 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word_id_dict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[w]  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initW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idx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np.asarray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).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astype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(np.float32)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initW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np.zeros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embedding_dim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int(max(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 /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0.5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4475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13796A4-8505-B8E3-A9D5-EC50B91E02B7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7CE5A-D9A2-3D2F-E1F9-9561079AF647}"/>
              </a:ext>
            </a:extLst>
          </p:cNvPr>
          <p:cNvSpPr/>
          <p:nvPr/>
        </p:nvSpPr>
        <p:spPr>
          <a:xfrm>
            <a:off x="122172" y="691200"/>
            <a:ext cx="8899656" cy="489364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device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torch.device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cuda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if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torch.cuda.is_available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 else 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cpu</a:t>
            </a:r>
            <a:r>
              <a:rPr lang="en-US" altLang="ko-KR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sequence_to_tensor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nb_paddings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training_loader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DataLoader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TensorDataset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train_y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shuffle=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True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num_workers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sequence_to_tensor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nb_paddings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nb_pad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torch.tensor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dev_loader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DataLoader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TensorDataset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dev_x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dev_y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batch_size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shuffle=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model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SentenceCnn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nb_classes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word_embedding_numpy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initW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filter_lengths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filter_counts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dropout_rate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dropout_rate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).to(device)</a:t>
            </a:r>
          </a:p>
          <a:p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b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criterion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nn.CrossEntropyLoss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optimizer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optim.Adadelta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model.parameters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(),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weight_decay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weight_decay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step_lr_scheduler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lr_scheduler.StepLR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(optimizer, gamma=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0.99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step_size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 dirty="0">
                <a:solidFill>
                  <a:srgbClr val="6897BB"/>
                </a:solidFill>
                <a:latin typeface="Consolas" panose="020B0609020204030204" pitchFamily="49" charset="0"/>
              </a:rPr>
              <a:t>1000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…</a:t>
            </a:r>
          </a:p>
          <a:p>
            <a:pPr algn="ct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(training code)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730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501B8E0-E795-46F5-6EAB-28E5ABB65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3926"/>
            <a:ext cx="9144000" cy="2370147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[Evaluation report]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DDF2F-15A0-6AA5-839F-096112A63361}"/>
              </a:ext>
            </a:extLst>
          </p:cNvPr>
          <p:cNvSpPr/>
          <p:nvPr/>
        </p:nvSpPr>
        <p:spPr>
          <a:xfrm>
            <a:off x="1112068" y="2687782"/>
            <a:ext cx="7961337" cy="2025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94FC90-DFE6-E4A9-8D69-958067446AFE}"/>
              </a:ext>
            </a:extLst>
          </p:cNvPr>
          <p:cNvSpPr/>
          <p:nvPr/>
        </p:nvSpPr>
        <p:spPr>
          <a:xfrm>
            <a:off x="94804" y="3037216"/>
            <a:ext cx="8953946" cy="901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A5EE62-C4DD-6816-71CF-DD5BBF4C949A}"/>
              </a:ext>
            </a:extLst>
          </p:cNvPr>
          <p:cNvSpPr/>
          <p:nvPr/>
        </p:nvSpPr>
        <p:spPr>
          <a:xfrm>
            <a:off x="50999" y="4100945"/>
            <a:ext cx="8953946" cy="44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075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0FE6FF-44A5-4718-456C-4F3A96777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84782"/>
              </p:ext>
            </p:extLst>
          </p:nvPr>
        </p:nvGraphicFramePr>
        <p:xfrm>
          <a:off x="127956" y="2139330"/>
          <a:ext cx="8888088" cy="2825288"/>
        </p:xfrm>
        <a:graphic>
          <a:graphicData uri="http://schemas.openxmlformats.org/drawingml/2006/table">
            <a:tbl>
              <a:tblPr/>
              <a:tblGrid>
                <a:gridCol w="2316117">
                  <a:extLst>
                    <a:ext uri="{9D8B030D-6E8A-4147-A177-3AD203B41FA5}">
                      <a16:colId xmlns:a16="http://schemas.microsoft.com/office/drawing/2014/main" val="4207470608"/>
                    </a:ext>
                  </a:extLst>
                </a:gridCol>
                <a:gridCol w="6571971">
                  <a:extLst>
                    <a:ext uri="{9D8B030D-6E8A-4147-A177-3AD203B41FA5}">
                      <a16:colId xmlns:a16="http://schemas.microsoft.com/office/drawing/2014/main" val="278868979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Simplicity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did you write the code? </a:t>
                      </a: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SNIPS data preprocessing: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CNN-rand: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CNN-static: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CNN-multi-channel: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02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Performance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well did the results of the code perform?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SNIPS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acc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95.0%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이상 달성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85813"/>
                  </a:ext>
                </a:extLst>
              </a:tr>
            </a:tbl>
          </a:graphicData>
        </a:graphic>
      </p:graphicFrame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3AF6977-12A2-F06A-B585-858AFA0653BE}"/>
              </a:ext>
            </a:extLst>
          </p:cNvPr>
          <p:cNvSpPr txBox="1">
            <a:spLocks/>
          </p:cNvSpPr>
          <p:nvPr/>
        </p:nvSpPr>
        <p:spPr>
          <a:xfrm>
            <a:off x="179512" y="1207542"/>
            <a:ext cx="8836532" cy="4351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4042792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BC077-2CE7-5C4E-620A-1B58E906093E}"/>
              </a:ext>
            </a:extLst>
          </p:cNvPr>
          <p:cNvSpPr txBox="1">
            <a:spLocks/>
          </p:cNvSpPr>
          <p:nvPr/>
        </p:nvSpPr>
        <p:spPr>
          <a:xfrm>
            <a:off x="180000" y="1340768"/>
            <a:ext cx="8964488" cy="50912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+mj-ea"/>
                <a:ea typeface="+mj-ea"/>
              </a:rPr>
              <a:t>Due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to : </a:t>
            </a:r>
            <a:r>
              <a:rPr lang="en-US" altLang="ko-KR" sz="2400" b="1" dirty="0">
                <a:latin typeface="+mj-ea"/>
                <a:ea typeface="+mj-ea"/>
              </a:rPr>
              <a:t>~ 4/21 (Mon) 23:59:59</a:t>
            </a: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Submission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: Online submission on </a:t>
            </a:r>
            <a:r>
              <a:rPr lang="en-US" altLang="ko-KR" sz="2400" dirty="0" err="1">
                <a:latin typeface="+mj-ea"/>
                <a:ea typeface="+mj-ea"/>
              </a:rPr>
              <a:t>cybercampus</a:t>
            </a:r>
            <a:endParaRPr lang="en-US" altLang="ko-KR" sz="2400" dirty="0">
              <a:latin typeface="+mj-ea"/>
              <a:ea typeface="+mj-ea"/>
            </a:endParaRP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Your submission should include</a:t>
            </a:r>
          </a:p>
          <a:p>
            <a:pPr marL="914400" lvl="1" indent="-457200">
              <a:buAutoNum type="arabicParenR"/>
            </a:pPr>
            <a:r>
              <a:rPr lang="en-US" altLang="ko-KR" sz="2400" dirty="0"/>
              <a:t>The whole code of your implementation</a:t>
            </a:r>
            <a:endParaRPr lang="en-US" altLang="ko-KR" sz="2800" dirty="0">
              <a:latin typeface="+mj-ea"/>
              <a:ea typeface="+mj-ea"/>
            </a:endParaRPr>
          </a:p>
          <a:p>
            <a:pPr marL="914400" lvl="1" indent="-457200">
              <a:buAutoNum type="arabicParenR"/>
            </a:pPr>
            <a:r>
              <a:rPr lang="en-US" altLang="ko-KR" sz="2400" dirty="0"/>
              <a:t>The evaluation report</a:t>
            </a:r>
          </a:p>
          <a:p>
            <a:pPr marL="0" indent="0">
              <a:buNone/>
            </a:pP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+mj-ea"/>
                <a:ea typeface="+mj-ea"/>
              </a:rPr>
              <a:t>You must implement the components yourself!</a:t>
            </a:r>
          </a:p>
          <a:p>
            <a:r>
              <a:rPr lang="en-US" altLang="ko-KR" sz="2400" dirty="0">
                <a:latin typeface="+mj-ea"/>
                <a:ea typeface="+mj-ea"/>
              </a:rPr>
              <a:t>File name : StudentID_Name_HW4.zip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8B0FE1B-D936-8ACD-889C-A17F43114EFD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4: CNN for sentence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59726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9D4332-937C-14D7-2146-7B0D995C6B34}"/>
              </a:ext>
            </a:extLst>
          </p:cNvPr>
          <p:cNvSpPr txBox="1">
            <a:spLocks/>
          </p:cNvSpPr>
          <p:nvPr/>
        </p:nvSpPr>
        <p:spPr>
          <a:xfrm>
            <a:off x="2555776" y="2708920"/>
            <a:ext cx="5256584" cy="960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600" b="1" dirty="0"/>
              <a:t>Q</a:t>
            </a:r>
            <a:r>
              <a:rPr lang="en-US" altLang="ko-KR" sz="9600" b="1" dirty="0"/>
              <a:t>&amp;</a:t>
            </a:r>
            <a:r>
              <a:rPr lang="en-US" altLang="ko-KR" sz="166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0087542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algn="l">
          <a:defRPr sz="2000" b="1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1" id="{D9BDF30F-3B36-4CEA-A9C9-0D5C5C06D51F}" vid="{20C366B2-3576-4F75-B35B-B2813EC3E1E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13660</TotalTime>
  <Words>3662</Words>
  <Application>Microsoft Office PowerPoint</Application>
  <PresentationFormat>화면 슬라이드 쇼(4:3)</PresentationFormat>
  <Paragraphs>468</Paragraphs>
  <Slides>26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Arial</vt:lpstr>
      <vt:lpstr>Calibri</vt:lpstr>
      <vt:lpstr>Cambria Math</vt:lpstr>
      <vt:lpstr>Consolas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821022795787</dc:creator>
  <cp:lastModifiedBy>KimKang-Min</cp:lastModifiedBy>
  <cp:revision>163</cp:revision>
  <dcterms:created xsi:type="dcterms:W3CDTF">2020-09-08T07:38:37Z</dcterms:created>
  <dcterms:modified xsi:type="dcterms:W3CDTF">2025-04-15T01:38:42Z</dcterms:modified>
</cp:coreProperties>
</file>