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9"/>
  </p:notesMasterIdLst>
  <p:sldIdLst>
    <p:sldId id="427" r:id="rId2"/>
    <p:sldId id="956" r:id="rId3"/>
    <p:sldId id="950" r:id="rId4"/>
    <p:sldId id="953" r:id="rId5"/>
    <p:sldId id="954" r:id="rId6"/>
    <p:sldId id="730" r:id="rId7"/>
    <p:sldId id="732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A6FB30-3A08-4FC9-8614-B204193284F3}">
          <p14:sldIdLst>
            <p14:sldId id="427"/>
            <p14:sldId id="956"/>
            <p14:sldId id="950"/>
            <p14:sldId id="953"/>
            <p14:sldId id="954"/>
            <p14:sldId id="730"/>
            <p14:sldId id="7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A2D716-3B7E-6162-E4CC-82B445EBDFE8}" name="최 재영" initials="최재" userId="d992d4872b0f84d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4494FF"/>
    <a:srgbClr val="FFACF8"/>
    <a:srgbClr val="7E7E85"/>
    <a:srgbClr val="871A2B"/>
    <a:srgbClr val="008000"/>
    <a:srgbClr val="F1F1F1"/>
    <a:srgbClr val="C72F53"/>
    <a:srgbClr val="130DFF"/>
    <a:srgbClr val="646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1" autoAdjust="0"/>
    <p:restoredTop sz="97416" autoAdjust="0"/>
  </p:normalViewPr>
  <p:slideViewPr>
    <p:cSldViewPr snapToGrid="0">
      <p:cViewPr varScale="1">
        <p:scale>
          <a:sx n="113" d="100"/>
          <a:sy n="113" d="100"/>
        </p:scale>
        <p:origin x="163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4B731-A149-48E9-9598-63F39D6B8585}" type="datetimeFigureOut">
              <a:rPr lang="ko-KR" altLang="en-US" smtClean="0"/>
              <a:t>2025-05-22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5238C-A8FC-4660-8003-59FEE05CC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6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ko-KR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12C1FE9-C985-48E7-9D27-2EA33FD38884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2618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50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502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847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301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5238C-A8FC-4660-8003-59FEE05CC33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50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9624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5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43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28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36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87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09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8046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97908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저작권</a:t>
            </a:r>
            <a:r>
              <a:rPr lang="en-US" altLang="ko-KR"/>
              <a:t>: AI School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DB31EF5-36A9-416D-B185-4ED9FA0B4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400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23C48BE-5B83-4C1F-8FAA-AAAD084D4513}"/>
              </a:ext>
            </a:extLst>
          </p:cNvPr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1C1F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100" dirty="0"/>
              <a:t>Copyright ⓒ2025. Prof. Kang-Min Kim, The Catholic University of Korea. All rights reserved.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251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5833E8-54F0-4BA2-9C0B-5572657F7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3608" y="5367338"/>
            <a:ext cx="8008952" cy="804862"/>
          </a:xfrm>
        </p:spPr>
        <p:txBody>
          <a:bodyPr/>
          <a:lstStyle/>
          <a:p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Homework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US" altLang="ko-KR" sz="2400" b="1" dirty="0">
                <a:latin typeface="Calibri"/>
                <a:ea typeface="+mn-lt"/>
                <a:cs typeface="Calibri"/>
              </a:rPr>
              <a:t>Natural Language Processing using Neural Models (NLG)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FFA9C6-FB54-407C-A282-92C582D2F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41" y="2422079"/>
            <a:ext cx="1858903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576BBA2-3E12-88F2-2136-E342F74E58B0}"/>
              </a:ext>
            </a:extLst>
          </p:cNvPr>
          <p:cNvSpPr txBox="1">
            <a:spLocks/>
          </p:cNvSpPr>
          <p:nvPr/>
        </p:nvSpPr>
        <p:spPr>
          <a:xfrm>
            <a:off x="2830045" y="2800885"/>
            <a:ext cx="5522668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딥러닝 </a:t>
            </a:r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(Deep Learning)</a:t>
            </a:r>
          </a:p>
        </p:txBody>
      </p:sp>
    </p:spTree>
    <p:extLst>
      <p:ext uri="{BB962C8B-B14F-4D97-AF65-F5344CB8AC3E}">
        <p14:creationId xmlns:p14="http://schemas.microsoft.com/office/powerpoint/2010/main" val="358392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AB84096A-C511-4FAC-ABE3-92606487E4E5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assignments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F18C40D-D6B7-0166-1F37-12514B24A514}"/>
              </a:ext>
            </a:extLst>
          </p:cNvPr>
          <p:cNvSpPr/>
          <p:nvPr/>
        </p:nvSpPr>
        <p:spPr>
          <a:xfrm>
            <a:off x="35496" y="969616"/>
            <a:ext cx="90730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Deep Learning Basic</a:t>
            </a:r>
            <a:r>
              <a:rPr lang="en-US" altLang="ko-KR" b="1" dirty="0"/>
              <a:t>	 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MLP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Object Recognition</a:t>
            </a:r>
            <a:r>
              <a:rPr lang="en-US" altLang="ko-KR" b="1" dirty="0"/>
              <a:t>			</a:t>
            </a:r>
            <a:r>
              <a:rPr lang="en-US" altLang="ko-KR" sz="1800" b="1" strike="sngStrike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ResNet</a:t>
            </a:r>
            <a:endParaRPr lang="en-US" altLang="ko-KR" sz="1800" b="1" strike="sngStrike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Face Recognition</a:t>
            </a:r>
            <a:r>
              <a:rPr lang="en-US" altLang="ko-KR" b="1" dirty="0"/>
              <a:t>			</a:t>
            </a:r>
            <a:r>
              <a:rPr lang="en-US" altLang="ko-KR" b="1" strike="sngStrike" dirty="0">
                <a:solidFill>
                  <a:srgbClr val="7E7E85"/>
                </a:solidFill>
              </a:rPr>
              <a:t>Free choice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NLU</a:t>
            </a:r>
            <a:r>
              <a:rPr lang="en-US" altLang="ko-KR" b="1" dirty="0"/>
              <a:t>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		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CNN for Sentence Classification</a:t>
            </a:r>
            <a:endParaRPr lang="en-US" altLang="ko-KR" b="1" strike="sngStrike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Object Detection</a:t>
            </a:r>
            <a:r>
              <a:rPr lang="en-US" altLang="ko-KR" b="1" dirty="0"/>
              <a:t>			</a:t>
            </a:r>
            <a:r>
              <a:rPr lang="en-US" altLang="ko-KR" sz="1800" b="1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YOLO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strike="sngStrike" dirty="0"/>
              <a:t>Image Generation</a:t>
            </a:r>
            <a:r>
              <a:rPr lang="en-US" altLang="ko-KR" b="1" dirty="0"/>
              <a:t>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GAN, CGAN, DCGAN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NLG					</a:t>
            </a:r>
            <a:r>
              <a:rPr lang="en-US" altLang="ko-KR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LSTM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Computer Vision		</a:t>
            </a:r>
            <a:r>
              <a:rPr lang="en-US" altLang="ko-KR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ViT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SSL for NLP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BERT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/>
              <a:t>LLM					</a:t>
            </a:r>
            <a: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ChatGPT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472512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139055" y="914400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[Dataset]</a:t>
            </a: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altLang="ko-KR" sz="1050" dirty="0"/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3CB759E9-38C1-97B0-26EC-01DAD82FE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757582"/>
              </p:ext>
            </p:extLst>
          </p:nvPr>
        </p:nvGraphicFramePr>
        <p:xfrm>
          <a:off x="394982" y="1922585"/>
          <a:ext cx="845213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804">
                  <a:extLst>
                    <a:ext uri="{9D8B030D-6E8A-4147-A177-3AD203B41FA5}">
                      <a16:colId xmlns:a16="http://schemas.microsoft.com/office/drawing/2014/main" val="3426523892"/>
                    </a:ext>
                  </a:extLst>
                </a:gridCol>
                <a:gridCol w="4111576">
                  <a:extLst>
                    <a:ext uri="{9D8B030D-6E8A-4147-A177-3AD203B41FA5}">
                      <a16:colId xmlns:a16="http://schemas.microsoft.com/office/drawing/2014/main" val="2638322689"/>
                    </a:ext>
                  </a:extLst>
                </a:gridCol>
                <a:gridCol w="1737755">
                  <a:extLst>
                    <a:ext uri="{9D8B030D-6E8A-4147-A177-3AD203B41FA5}">
                      <a16:colId xmlns:a16="http://schemas.microsoft.com/office/drawing/2014/main" val="419433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Source&amp;Target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44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Eng-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fra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Machine translation (EN-FR) dataset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English&amp;French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16335"/>
                  </a:ext>
                </a:extLst>
              </a:tr>
            </a:tbl>
          </a:graphicData>
        </a:graphic>
      </p:graphicFrame>
      <p:sp>
        <p:nvSpPr>
          <p:cNvPr id="3" name="제목 1">
            <a:extLst>
              <a:ext uri="{FF2B5EF4-FFF2-40B4-BE49-F238E27FC236}">
                <a16:creationId xmlns:a16="http://schemas.microsoft.com/office/drawing/2014/main" id="{388D8950-84A4-DB44-84CC-FBB3810535F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7: </a:t>
            </a:r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RNN for machine translation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596D49-B7D5-19EB-346F-0C596E7EF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19" y="3092965"/>
            <a:ext cx="8585860" cy="293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7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84141-B460-A2F6-D581-0B3C1B14EA4A}"/>
              </a:ext>
            </a:extLst>
          </p:cNvPr>
          <p:cNvSpPr txBox="1"/>
          <p:nvPr/>
        </p:nvSpPr>
        <p:spPr>
          <a:xfrm>
            <a:off x="139055" y="914400"/>
            <a:ext cx="7961337" cy="4357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Bef>
                <a:spcPts val="500"/>
              </a:spcBef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[Evaluation report]</a:t>
            </a: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ko-KR" sz="12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462D8F-E634-8438-CC65-EE4510624CA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7: RNN for machine translation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57CD8F-1F53-BA7B-3D8A-B09AA9E42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4" y="1561686"/>
            <a:ext cx="9064831" cy="3734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E381B2-5290-44C5-9911-A2F167ABE187}"/>
              </a:ext>
            </a:extLst>
          </p:cNvPr>
          <p:cNvSpPr txBox="1"/>
          <p:nvPr/>
        </p:nvSpPr>
        <p:spPr>
          <a:xfrm>
            <a:off x="4653886" y="1067918"/>
            <a:ext cx="3948517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어텐션</a:t>
            </a: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구현하면 돌아가게 </a:t>
            </a:r>
            <a:r>
              <a:rPr lang="ko-KR" alt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되있음</a:t>
            </a:r>
            <a:endParaRPr lang="ko-KR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3D8851-DA1B-4D74-8C73-CD7A2D7FF357}"/>
              </a:ext>
            </a:extLst>
          </p:cNvPr>
          <p:cNvSpPr txBox="1"/>
          <p:nvPr/>
        </p:nvSpPr>
        <p:spPr>
          <a:xfrm>
            <a:off x="4571999" y="2226734"/>
            <a:ext cx="4455130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W </a:t>
            </a:r>
            <a:r>
              <a:rPr lang="ko-KR" alt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줄거면</a:t>
            </a:r>
            <a:r>
              <a:rPr lang="ko-KR" alt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basic dot product (</a:t>
            </a:r>
            <a:r>
              <a:rPr lang="ko-KR" alt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그냥 내적</a:t>
            </a:r>
            <a:r>
              <a:rPr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l"/>
            <a:r>
              <a:rPr lang="ko-KR" alt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말고 그 </a:t>
            </a:r>
            <a:r>
              <a:rPr lang="ko-KR" alt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어텐션</a:t>
            </a:r>
            <a:r>
              <a:rPr lang="ko-KR" alt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쓰면댐</a:t>
            </a:r>
            <a:r>
              <a:rPr lang="ko-KR" alt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필수아님</a:t>
            </a:r>
            <a:r>
              <a:rPr lang="en-US" altLang="ko-KR" sz="14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ko-KR" alt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07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E462D8F-E634-8438-CC65-EE4510624CAF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7: RNN for machine translation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F0FE6FF-44A5-4718-456C-4F3A96777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945815"/>
              </p:ext>
            </p:extLst>
          </p:nvPr>
        </p:nvGraphicFramePr>
        <p:xfrm>
          <a:off x="127956" y="2139330"/>
          <a:ext cx="8888088" cy="2550968"/>
        </p:xfrm>
        <a:graphic>
          <a:graphicData uri="http://schemas.openxmlformats.org/drawingml/2006/table">
            <a:tbl>
              <a:tblPr/>
              <a:tblGrid>
                <a:gridCol w="2316117">
                  <a:extLst>
                    <a:ext uri="{9D8B030D-6E8A-4147-A177-3AD203B41FA5}">
                      <a16:colId xmlns:a16="http://schemas.microsoft.com/office/drawing/2014/main" val="4207470608"/>
                    </a:ext>
                  </a:extLst>
                </a:gridCol>
                <a:gridCol w="6571971">
                  <a:extLst>
                    <a:ext uri="{9D8B030D-6E8A-4147-A177-3AD203B41FA5}">
                      <a16:colId xmlns:a16="http://schemas.microsoft.com/office/drawing/2014/main" val="2788689799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Simplicity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concisely did you write the code? </a:t>
                      </a: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EN2FR data preprocessing: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Attention mechanism: 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Inference an English sentence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302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Performance</a:t>
                      </a: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How well did the results of the code perform? </a:t>
                      </a:r>
                    </a:p>
                    <a:p>
                      <a:pPr marL="0" marR="0" indent="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배점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indent="-285750" algn="just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EN2FR BLEU score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이상 달성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2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33653" marR="133653" marT="89102" marB="891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85813"/>
                  </a:ext>
                </a:extLst>
              </a:tr>
            </a:tbl>
          </a:graphicData>
        </a:graphic>
      </p:graphicFrame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3AF6977-12A2-F06A-B585-858AFA0653BE}"/>
              </a:ext>
            </a:extLst>
          </p:cNvPr>
          <p:cNvSpPr txBox="1">
            <a:spLocks/>
          </p:cNvSpPr>
          <p:nvPr/>
        </p:nvSpPr>
        <p:spPr>
          <a:xfrm>
            <a:off x="179512" y="1207542"/>
            <a:ext cx="8836532" cy="4351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b="1" dirty="0"/>
              <a:t>Evaluation Criteria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43F036-1B39-4480-B2C0-BDB9BC213F03}"/>
              </a:ext>
            </a:extLst>
          </p:cNvPr>
          <p:cNvSpPr txBox="1"/>
          <p:nvPr/>
        </p:nvSpPr>
        <p:spPr>
          <a:xfrm>
            <a:off x="5469466" y="3014704"/>
            <a:ext cx="2722284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Dot product </a:t>
            </a: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만 하면 됨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605F1-181A-427B-B34B-F3F3CAB3EC6E}"/>
              </a:ext>
            </a:extLst>
          </p:cNvPr>
          <p:cNvSpPr txBox="1"/>
          <p:nvPr/>
        </p:nvSpPr>
        <p:spPr>
          <a:xfrm>
            <a:off x="5968999" y="2683933"/>
            <a:ext cx="954107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>
                <a:latin typeface="Calibri" panose="020F0502020204030204" pitchFamily="34" charset="0"/>
                <a:cs typeface="Calibri" panose="020F0502020204030204" pitchFamily="34" charset="0"/>
              </a:rPr>
              <a:t>전처리</a:t>
            </a:r>
            <a:endParaRPr lang="ko-KR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AE4F5-7D74-4820-ADB0-CA4FC60C362E}"/>
              </a:ext>
            </a:extLst>
          </p:cNvPr>
          <p:cNvSpPr txBox="1"/>
          <p:nvPr/>
        </p:nvSpPr>
        <p:spPr>
          <a:xfrm>
            <a:off x="6175119" y="3318278"/>
            <a:ext cx="2294218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b="1">
                <a:latin typeface="Calibri" panose="020F0502020204030204" pitchFamily="34" charset="0"/>
                <a:cs typeface="Calibri" panose="020F0502020204030204" pitchFamily="34" charset="0"/>
              </a:rPr>
              <a:t>영어문장 </a:t>
            </a:r>
            <a:r>
              <a:rPr lang="ko-KR" altLang="en-US" sz="2000" b="1" dirty="0" err="1">
                <a:latin typeface="Calibri" panose="020F0502020204030204" pitchFamily="34" charset="0"/>
                <a:cs typeface="Calibri" panose="020F0502020204030204" pitchFamily="34" charset="0"/>
              </a:rPr>
              <a:t>넣어보기</a:t>
            </a:r>
            <a:endParaRPr lang="ko-KR" alt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79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F2C16A9-E29D-4B59-A80E-67681E9745E1}"/>
              </a:ext>
            </a:extLst>
          </p:cNvPr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2">
            <a:extLst>
              <a:ext uri="{FF2B5EF4-FFF2-40B4-BE49-F238E27FC236}">
                <a16:creationId xmlns:a16="http://schemas.microsoft.com/office/drawing/2014/main" id="{867EF8BE-EBAD-402F-AAC0-8AEB64F97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189"/>
            <a:ext cx="685407" cy="504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ABC077-2CE7-5C4E-620A-1B58E906093E}"/>
              </a:ext>
            </a:extLst>
          </p:cNvPr>
          <p:cNvSpPr txBox="1">
            <a:spLocks/>
          </p:cNvSpPr>
          <p:nvPr/>
        </p:nvSpPr>
        <p:spPr>
          <a:xfrm>
            <a:off x="180000" y="1340768"/>
            <a:ext cx="8964488" cy="50912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+mj-ea"/>
                <a:ea typeface="+mj-ea"/>
              </a:rPr>
              <a:t>Due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to : </a:t>
            </a:r>
            <a:r>
              <a:rPr lang="en-US" altLang="ko-KR" sz="2400" b="1" dirty="0">
                <a:latin typeface="+mj-ea"/>
                <a:ea typeface="+mj-ea"/>
              </a:rPr>
              <a:t>~ </a:t>
            </a:r>
            <a:r>
              <a:rPr lang="en-US" altLang="ko-KR" sz="2400" b="1">
                <a:latin typeface="+mj-ea"/>
                <a:ea typeface="+mj-ea"/>
              </a:rPr>
              <a:t>5/28 (Wed) </a:t>
            </a:r>
            <a:r>
              <a:rPr lang="en-US" altLang="ko-KR" sz="2400" b="1" dirty="0">
                <a:latin typeface="+mj-ea"/>
                <a:ea typeface="+mj-ea"/>
              </a:rPr>
              <a:t>23:59:59</a:t>
            </a: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Submission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: Online submission on </a:t>
            </a:r>
            <a:r>
              <a:rPr lang="en-US" altLang="ko-KR" sz="2400" dirty="0" err="1">
                <a:latin typeface="+mj-ea"/>
                <a:ea typeface="+mj-ea"/>
              </a:rPr>
              <a:t>cybercampus</a:t>
            </a:r>
            <a:endParaRPr lang="en-US" altLang="ko-KR" sz="2400" dirty="0">
              <a:latin typeface="+mj-ea"/>
              <a:ea typeface="+mj-ea"/>
            </a:endParaRPr>
          </a:p>
          <a:p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latin typeface="+mj-ea"/>
                <a:ea typeface="+mj-ea"/>
              </a:rPr>
              <a:t>Your submission should include</a:t>
            </a:r>
          </a:p>
          <a:p>
            <a:pPr marL="914400" lvl="1" indent="-457200">
              <a:buAutoNum type="arabicParenR"/>
            </a:pPr>
            <a:r>
              <a:rPr lang="en-US" altLang="ko-KR" sz="2400" dirty="0"/>
              <a:t>The whole code of your implementation</a:t>
            </a:r>
            <a:endParaRPr lang="en-US" altLang="ko-KR" sz="2800" dirty="0">
              <a:latin typeface="+mj-ea"/>
              <a:ea typeface="+mj-ea"/>
            </a:endParaRPr>
          </a:p>
          <a:p>
            <a:pPr marL="914400" lvl="1" indent="-457200">
              <a:buAutoNum type="arabicParenR"/>
            </a:pPr>
            <a:r>
              <a:rPr lang="en-US" altLang="ko-KR" sz="2400" dirty="0"/>
              <a:t>The evaluation report</a:t>
            </a:r>
          </a:p>
          <a:p>
            <a:pPr marL="0" indent="0">
              <a:buNone/>
            </a:pP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rgbClr val="FF0000"/>
                </a:solidFill>
                <a:latin typeface="+mj-ea"/>
                <a:ea typeface="+mj-ea"/>
              </a:rPr>
              <a:t>You must implement the components yourself!</a:t>
            </a:r>
          </a:p>
          <a:p>
            <a:r>
              <a:rPr lang="en-US" altLang="ko-KR" sz="2400" dirty="0">
                <a:latin typeface="+mj-ea"/>
                <a:ea typeface="+mj-ea"/>
              </a:rPr>
              <a:t>File name : StudentID_Name_HW7.zip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8B0FE1B-D936-8ACD-889C-A17F43114EFD}"/>
              </a:ext>
            </a:extLst>
          </p:cNvPr>
          <p:cNvSpPr txBox="1">
            <a:spLocks/>
          </p:cNvSpPr>
          <p:nvPr/>
        </p:nvSpPr>
        <p:spPr>
          <a:xfrm>
            <a:off x="1004285" y="0"/>
            <a:ext cx="8139715" cy="620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2400" b="1" dirty="0">
                <a:solidFill>
                  <a:srgbClr val="1C1F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 7: RNN for machine translation</a:t>
            </a:r>
          </a:p>
        </p:txBody>
      </p:sp>
    </p:spTree>
    <p:extLst>
      <p:ext uri="{BB962C8B-B14F-4D97-AF65-F5344CB8AC3E}">
        <p14:creationId xmlns:p14="http://schemas.microsoft.com/office/powerpoint/2010/main" val="59726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19D4332-937C-14D7-2146-7B0D995C6B34}"/>
              </a:ext>
            </a:extLst>
          </p:cNvPr>
          <p:cNvSpPr txBox="1">
            <a:spLocks/>
          </p:cNvSpPr>
          <p:nvPr/>
        </p:nvSpPr>
        <p:spPr>
          <a:xfrm>
            <a:off x="2555776" y="2708920"/>
            <a:ext cx="5256584" cy="9604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16600" b="1" dirty="0"/>
              <a:t>Q</a:t>
            </a:r>
            <a:r>
              <a:rPr lang="en-US" altLang="ko-KR" sz="9600" b="1" dirty="0"/>
              <a:t>&amp;</a:t>
            </a:r>
            <a:r>
              <a:rPr lang="en-US" altLang="ko-KR" sz="16600" b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00875422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/>
      <a:lstStyle>
        <a:defPPr algn="l">
          <a:defRPr sz="2000" b="1" dirty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테마1" id="{D9BDF30F-3B36-4CEA-A9C9-0D5C5C06D51F}" vid="{20C366B2-3576-4F75-B35B-B2813EC3E1E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13738</TotalTime>
  <Words>284</Words>
  <Application>Microsoft Office PowerPoint</Application>
  <PresentationFormat>화면 슬라이드 쇼(4:3)</PresentationFormat>
  <Paragraphs>74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821022795787</dc:creator>
  <cp:lastModifiedBy>Catholic</cp:lastModifiedBy>
  <cp:revision>164</cp:revision>
  <dcterms:created xsi:type="dcterms:W3CDTF">2020-09-08T07:38:37Z</dcterms:created>
  <dcterms:modified xsi:type="dcterms:W3CDTF">2025-05-22T04:50:54Z</dcterms:modified>
</cp:coreProperties>
</file>